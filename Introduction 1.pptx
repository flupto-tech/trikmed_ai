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7" r:id="rId2"/>
    <p:sldId id="281" r:id="rId3"/>
    <p:sldId id="372" r:id="rId4"/>
    <p:sldId id="282" r:id="rId5"/>
    <p:sldId id="285" r:id="rId6"/>
    <p:sldId id="260" r:id="rId7"/>
    <p:sldId id="373" r:id="rId8"/>
    <p:sldId id="386" r:id="rId28"/>
    <p:sldId id="374" r:id="rId9"/>
    <p:sldId id="375" r:id="rId10"/>
    <p:sldId id="376" r:id="rId11"/>
    <p:sldId id="377" r:id="rId12"/>
    <p:sldId id="387" r:id="rId29"/>
    <p:sldId id="378" r:id="rId13"/>
    <p:sldId id="388" r:id="rId30"/>
    <p:sldId id="379" r:id="rId14"/>
    <p:sldId id="389" r:id="rId31"/>
    <p:sldId id="380" r:id="rId15"/>
    <p:sldId id="390" r:id="rId32"/>
    <p:sldId id="381" r:id="rId16"/>
    <p:sldId id="391" r:id="rId33"/>
    <p:sldId id="382" r:id="rId17"/>
    <p:sldId id="392" r:id="rId34"/>
    <p:sldId id="383" r:id="rId18"/>
    <p:sldId id="393" r:id="rId35"/>
    <p:sldId id="384" r:id="rId19"/>
    <p:sldId id="394" r:id="rId36"/>
    <p:sldId id="385" r:id="rId20"/>
    <p:sldId id="395" r:id="rId37"/>
    <p:sldId id="268" r:id="rId21"/>
  </p:sldIdLst>
  <p:sldSz cx="12192000" cy="6858000"/>
  <p:notesSz cx="9874250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  <a:srgbClr val="0066FF"/>
    <a:srgbClr val="0000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44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5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  <Relationship Id="rId28" Type="http://schemas.openxmlformats.org/officeDocument/2006/relationships/slide" Target="slides/slide21.xml"/>
  <Relationship Id="rId29" Type="http://schemas.openxmlformats.org/officeDocument/2006/relationships/slide" Target="slides/slide22.xml"/>
  <Relationship Id="rId30" Type="http://schemas.openxmlformats.org/officeDocument/2006/relationships/slide" Target="slides/slide23.xml"/>
  <Relationship Id="rId31" Type="http://schemas.openxmlformats.org/officeDocument/2006/relationships/slide" Target="slides/slide24.xml"/>
  <Relationship Id="rId32" Type="http://schemas.openxmlformats.org/officeDocument/2006/relationships/slide" Target="slides/slide25.xml"/>
  <Relationship Id="rId33" Type="http://schemas.openxmlformats.org/officeDocument/2006/relationships/slide" Target="slides/slide26.xml"/>
  <Relationship Id="rId34" Type="http://schemas.openxmlformats.org/officeDocument/2006/relationships/slide" Target="slides/slide27.xml"/>
  <Relationship Id="rId35" Type="http://schemas.openxmlformats.org/officeDocument/2006/relationships/slide" Target="slides/slide28.xml"/>
  <Relationship Id="rId36" Type="http://schemas.openxmlformats.org/officeDocument/2006/relationships/slide" Target="slides/slide29.xml"/>
  <Relationship Id="rId37" Type="http://schemas.openxmlformats.org/officeDocument/2006/relationships/slide" Target="slides/slide30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57D15A-0207-4380-9601-87A64A2B66C7}" type="doc">
      <dgm:prSet loTypeId="urn:microsoft.com/office/officeart/2005/8/layout/pyramid2" loCatId="pyramid" qsTypeId="urn:microsoft.com/office/officeart/2005/8/quickstyle/simple1" qsCatId="simple" csTypeId="urn:microsoft.com/office/officeart/2005/8/colors/accent2_4" csCatId="accent2" phldr="1"/>
      <dgm:spPr/>
      <dgm:t>
        <a:bodyPr/>
        <a:lstStyle/>
        <a:p>
          <a:endParaRPr lang="en-US"/>
        </a:p>
      </dgm:t>
    </dgm:pt>
    <dgm:pt modelId="{D0F94E90-C547-4768-8970-88057616C213}">
      <dgm:prSet phldrT="[Text]"/>
      <dgm:spPr/>
      <dgm:t>
        <a:bodyPr/>
        <a:lstStyle/>
        <a:p>
          <a:r>
            <a:rPr lang="en-US" b="1" dirty="0"/>
            <a:t>CONFIDENTIALITY</a:t>
          </a:r>
        </a:p>
      </dgm:t>
    </dgm:pt>
    <dgm:pt modelId="{24F65F38-C2A0-45C3-8E1F-75A10315BB20}" type="parTrans" cxnId="{EB01FEC1-45F8-49ED-850A-968BC213EBE3}">
      <dgm:prSet/>
      <dgm:spPr/>
      <dgm:t>
        <a:bodyPr/>
        <a:lstStyle/>
        <a:p>
          <a:endParaRPr lang="en-US"/>
        </a:p>
      </dgm:t>
    </dgm:pt>
    <dgm:pt modelId="{AAEFD9BC-6F17-47A1-894E-CECD2078A115}" type="sibTrans" cxnId="{EB01FEC1-45F8-49ED-850A-968BC213EBE3}">
      <dgm:prSet/>
      <dgm:spPr/>
      <dgm:t>
        <a:bodyPr/>
        <a:lstStyle/>
        <a:p>
          <a:endParaRPr lang="en-US"/>
        </a:p>
      </dgm:t>
    </dgm:pt>
    <dgm:pt modelId="{E9A58AF3-5F4C-42ED-87E0-AE0318E75CFC}">
      <dgm:prSet phldrT="[Text]"/>
      <dgm:spPr/>
      <dgm:t>
        <a:bodyPr/>
        <a:lstStyle/>
        <a:p>
          <a:r>
            <a:rPr lang="en-US" b="1" dirty="0"/>
            <a:t>INTEGRITY</a:t>
          </a:r>
        </a:p>
      </dgm:t>
    </dgm:pt>
    <dgm:pt modelId="{1009004E-8EE1-420D-8F92-4BD7956FB106}" type="parTrans" cxnId="{52037374-0B76-4E01-82D6-31C871551CE3}">
      <dgm:prSet/>
      <dgm:spPr/>
      <dgm:t>
        <a:bodyPr/>
        <a:lstStyle/>
        <a:p>
          <a:endParaRPr lang="en-US"/>
        </a:p>
      </dgm:t>
    </dgm:pt>
    <dgm:pt modelId="{E0FB9C7F-E627-4657-9483-F82267D75101}" type="sibTrans" cxnId="{52037374-0B76-4E01-82D6-31C871551CE3}">
      <dgm:prSet/>
      <dgm:spPr/>
      <dgm:t>
        <a:bodyPr/>
        <a:lstStyle/>
        <a:p>
          <a:endParaRPr lang="en-US"/>
        </a:p>
      </dgm:t>
    </dgm:pt>
    <dgm:pt modelId="{4AD6FBC2-466C-46B0-A366-022A700BFADF}">
      <dgm:prSet phldrT="[Text]"/>
      <dgm:spPr/>
      <dgm:t>
        <a:bodyPr/>
        <a:lstStyle/>
        <a:p>
          <a:r>
            <a:rPr lang="en-US" b="1" dirty="0"/>
            <a:t>AVAILABILITY</a:t>
          </a:r>
        </a:p>
      </dgm:t>
    </dgm:pt>
    <dgm:pt modelId="{763FB1C1-A1D8-41E9-8078-8538E1CBEE5C}" type="parTrans" cxnId="{E5D5B789-7CF0-413B-9C07-809ADCAF53C9}">
      <dgm:prSet/>
      <dgm:spPr/>
      <dgm:t>
        <a:bodyPr/>
        <a:lstStyle/>
        <a:p>
          <a:endParaRPr lang="en-US"/>
        </a:p>
      </dgm:t>
    </dgm:pt>
    <dgm:pt modelId="{C1D05301-3540-4E3D-9C1E-E39A52E8EEC6}" type="sibTrans" cxnId="{E5D5B789-7CF0-413B-9C07-809ADCAF53C9}">
      <dgm:prSet/>
      <dgm:spPr/>
      <dgm:t>
        <a:bodyPr/>
        <a:lstStyle/>
        <a:p>
          <a:endParaRPr lang="en-US"/>
        </a:p>
      </dgm:t>
    </dgm:pt>
    <dgm:pt modelId="{A94FA0C6-E6BE-482D-A259-63FFBBF17874}" type="pres">
      <dgm:prSet presAssocID="{CB57D15A-0207-4380-9601-87A64A2B66C7}" presName="compositeShape" presStyleCnt="0">
        <dgm:presLayoutVars>
          <dgm:dir/>
          <dgm:resizeHandles/>
        </dgm:presLayoutVars>
      </dgm:prSet>
      <dgm:spPr/>
    </dgm:pt>
    <dgm:pt modelId="{C7AF8256-4BFF-429E-85B3-099D56983242}" type="pres">
      <dgm:prSet presAssocID="{CB57D15A-0207-4380-9601-87A64A2B66C7}" presName="pyramid" presStyleLbl="node1" presStyleIdx="0" presStyleCnt="1"/>
      <dgm:spPr/>
    </dgm:pt>
    <dgm:pt modelId="{E5ADA8CC-39BE-4670-82B3-332B0F823FC1}" type="pres">
      <dgm:prSet presAssocID="{CB57D15A-0207-4380-9601-87A64A2B66C7}" presName="theList" presStyleCnt="0"/>
      <dgm:spPr/>
    </dgm:pt>
    <dgm:pt modelId="{CB65ED0C-E7A3-4427-B7F8-440FCBCBE27D}" type="pres">
      <dgm:prSet presAssocID="{D0F94E90-C547-4768-8970-88057616C213}" presName="aNode" presStyleLbl="fgAcc1" presStyleIdx="0" presStyleCnt="3">
        <dgm:presLayoutVars>
          <dgm:bulletEnabled val="1"/>
        </dgm:presLayoutVars>
      </dgm:prSet>
      <dgm:spPr/>
    </dgm:pt>
    <dgm:pt modelId="{09E2454E-2370-4316-8629-02CDCE9488DC}" type="pres">
      <dgm:prSet presAssocID="{D0F94E90-C547-4768-8970-88057616C213}" presName="aSpace" presStyleCnt="0"/>
      <dgm:spPr/>
    </dgm:pt>
    <dgm:pt modelId="{7100B218-C421-4D1C-B002-4D810E866963}" type="pres">
      <dgm:prSet presAssocID="{E9A58AF3-5F4C-42ED-87E0-AE0318E75CFC}" presName="aNode" presStyleLbl="fgAcc1" presStyleIdx="1" presStyleCnt="3">
        <dgm:presLayoutVars>
          <dgm:bulletEnabled val="1"/>
        </dgm:presLayoutVars>
      </dgm:prSet>
      <dgm:spPr/>
    </dgm:pt>
    <dgm:pt modelId="{C7003C5A-AB76-462E-A119-9A2457599A8D}" type="pres">
      <dgm:prSet presAssocID="{E9A58AF3-5F4C-42ED-87E0-AE0318E75CFC}" presName="aSpace" presStyleCnt="0"/>
      <dgm:spPr/>
    </dgm:pt>
    <dgm:pt modelId="{A76AEF67-34F1-4A33-BF0E-014DBEEA4E8F}" type="pres">
      <dgm:prSet presAssocID="{4AD6FBC2-466C-46B0-A366-022A700BFADF}" presName="aNode" presStyleLbl="fgAcc1" presStyleIdx="2" presStyleCnt="3">
        <dgm:presLayoutVars>
          <dgm:bulletEnabled val="1"/>
        </dgm:presLayoutVars>
      </dgm:prSet>
      <dgm:spPr/>
    </dgm:pt>
    <dgm:pt modelId="{9454A1B2-36A2-4D46-8DEC-4C091BBDD6ED}" type="pres">
      <dgm:prSet presAssocID="{4AD6FBC2-466C-46B0-A366-022A700BFADF}" presName="aSpace" presStyleCnt="0"/>
      <dgm:spPr/>
    </dgm:pt>
  </dgm:ptLst>
  <dgm:cxnLst>
    <dgm:cxn modelId="{52037374-0B76-4E01-82D6-31C871551CE3}" srcId="{CB57D15A-0207-4380-9601-87A64A2B66C7}" destId="{E9A58AF3-5F4C-42ED-87E0-AE0318E75CFC}" srcOrd="1" destOrd="0" parTransId="{1009004E-8EE1-420D-8F92-4BD7956FB106}" sibTransId="{E0FB9C7F-E627-4657-9483-F82267D75101}"/>
    <dgm:cxn modelId="{E5D5B789-7CF0-413B-9C07-809ADCAF53C9}" srcId="{CB57D15A-0207-4380-9601-87A64A2B66C7}" destId="{4AD6FBC2-466C-46B0-A366-022A700BFADF}" srcOrd="2" destOrd="0" parTransId="{763FB1C1-A1D8-41E9-8078-8538E1CBEE5C}" sibTransId="{C1D05301-3540-4E3D-9C1E-E39A52E8EEC6}"/>
    <dgm:cxn modelId="{15B2828D-0B1D-4071-8028-3BDE520C6911}" type="presOf" srcId="{E9A58AF3-5F4C-42ED-87E0-AE0318E75CFC}" destId="{7100B218-C421-4D1C-B002-4D810E866963}" srcOrd="0" destOrd="0" presId="urn:microsoft.com/office/officeart/2005/8/layout/pyramid2"/>
    <dgm:cxn modelId="{EAA80EAC-48A9-4BA0-AA51-BF7894A2824F}" type="presOf" srcId="{CB57D15A-0207-4380-9601-87A64A2B66C7}" destId="{A94FA0C6-E6BE-482D-A259-63FFBBF17874}" srcOrd="0" destOrd="0" presId="urn:microsoft.com/office/officeart/2005/8/layout/pyramid2"/>
    <dgm:cxn modelId="{18040BAD-0F6D-4DC9-B619-6C2B0461C67F}" type="presOf" srcId="{4AD6FBC2-466C-46B0-A366-022A700BFADF}" destId="{A76AEF67-34F1-4A33-BF0E-014DBEEA4E8F}" srcOrd="0" destOrd="0" presId="urn:microsoft.com/office/officeart/2005/8/layout/pyramid2"/>
    <dgm:cxn modelId="{C59896BC-6EE6-436F-B02F-EFA50B94DA4A}" type="presOf" srcId="{D0F94E90-C547-4768-8970-88057616C213}" destId="{CB65ED0C-E7A3-4427-B7F8-440FCBCBE27D}" srcOrd="0" destOrd="0" presId="urn:microsoft.com/office/officeart/2005/8/layout/pyramid2"/>
    <dgm:cxn modelId="{EB01FEC1-45F8-49ED-850A-968BC213EBE3}" srcId="{CB57D15A-0207-4380-9601-87A64A2B66C7}" destId="{D0F94E90-C547-4768-8970-88057616C213}" srcOrd="0" destOrd="0" parTransId="{24F65F38-C2A0-45C3-8E1F-75A10315BB20}" sibTransId="{AAEFD9BC-6F17-47A1-894E-CECD2078A115}"/>
    <dgm:cxn modelId="{336766F6-7727-4AD1-B289-828AE8FF811B}" type="presParOf" srcId="{A94FA0C6-E6BE-482D-A259-63FFBBF17874}" destId="{C7AF8256-4BFF-429E-85B3-099D56983242}" srcOrd="0" destOrd="0" presId="urn:microsoft.com/office/officeart/2005/8/layout/pyramid2"/>
    <dgm:cxn modelId="{97902F02-EF54-4AA7-9E9A-5BE140E0A808}" type="presParOf" srcId="{A94FA0C6-E6BE-482D-A259-63FFBBF17874}" destId="{E5ADA8CC-39BE-4670-82B3-332B0F823FC1}" srcOrd="1" destOrd="0" presId="urn:microsoft.com/office/officeart/2005/8/layout/pyramid2"/>
    <dgm:cxn modelId="{2A739202-052A-4B49-8331-4E4CAE16DC02}" type="presParOf" srcId="{E5ADA8CC-39BE-4670-82B3-332B0F823FC1}" destId="{CB65ED0C-E7A3-4427-B7F8-440FCBCBE27D}" srcOrd="0" destOrd="0" presId="urn:microsoft.com/office/officeart/2005/8/layout/pyramid2"/>
    <dgm:cxn modelId="{4A0EC394-5884-4BB5-8BD5-0E7BF13F7D92}" type="presParOf" srcId="{E5ADA8CC-39BE-4670-82B3-332B0F823FC1}" destId="{09E2454E-2370-4316-8629-02CDCE9488DC}" srcOrd="1" destOrd="0" presId="urn:microsoft.com/office/officeart/2005/8/layout/pyramid2"/>
    <dgm:cxn modelId="{93C0EBA9-C3A6-429C-88CE-B1F0B48FB2E4}" type="presParOf" srcId="{E5ADA8CC-39BE-4670-82B3-332B0F823FC1}" destId="{7100B218-C421-4D1C-B002-4D810E866963}" srcOrd="2" destOrd="0" presId="urn:microsoft.com/office/officeart/2005/8/layout/pyramid2"/>
    <dgm:cxn modelId="{E88BB02B-9086-4346-9416-F117CE1AFCEE}" type="presParOf" srcId="{E5ADA8CC-39BE-4670-82B3-332B0F823FC1}" destId="{C7003C5A-AB76-462E-A119-9A2457599A8D}" srcOrd="3" destOrd="0" presId="urn:microsoft.com/office/officeart/2005/8/layout/pyramid2"/>
    <dgm:cxn modelId="{67663C52-0CC5-4DB6-8641-BB005DDE3503}" type="presParOf" srcId="{E5ADA8CC-39BE-4670-82B3-332B0F823FC1}" destId="{A76AEF67-34F1-4A33-BF0E-014DBEEA4E8F}" srcOrd="4" destOrd="0" presId="urn:microsoft.com/office/officeart/2005/8/layout/pyramid2"/>
    <dgm:cxn modelId="{80B00E09-417B-4C43-A4D2-1E670D336A36}" type="presParOf" srcId="{E5ADA8CC-39BE-4670-82B3-332B0F823FC1}" destId="{9454A1B2-36A2-4D46-8DEC-4C091BBDD6ED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B37B71-A904-4208-ADA8-F5D26266EA13}" type="doc">
      <dgm:prSet loTypeId="urn:microsoft.com/office/officeart/2005/8/layout/hierarchy1" loCatId="hierarchy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86ACE99-F545-462F-B20D-6F9F957203CD}">
      <dgm:prSet phldrT="[Text]"/>
      <dgm:spPr/>
      <dgm:t>
        <a:bodyPr/>
        <a:lstStyle/>
        <a:p>
          <a:r>
            <a:rPr lang="en-US" dirty="0"/>
            <a:t>Threat Classes</a:t>
          </a:r>
        </a:p>
      </dgm:t>
    </dgm:pt>
    <dgm:pt modelId="{34913162-9201-422F-AAB6-2A0C51186976}" type="parTrans" cxnId="{8EF41CF6-F4DE-4CB8-ACB3-835D6F6E4FE7}">
      <dgm:prSet/>
      <dgm:spPr/>
      <dgm:t>
        <a:bodyPr/>
        <a:lstStyle/>
        <a:p>
          <a:endParaRPr lang="en-US"/>
        </a:p>
      </dgm:t>
    </dgm:pt>
    <dgm:pt modelId="{307718DF-4201-4018-B2B4-47F13C7CF950}" type="sibTrans" cxnId="{8EF41CF6-F4DE-4CB8-ACB3-835D6F6E4FE7}">
      <dgm:prSet/>
      <dgm:spPr/>
      <dgm:t>
        <a:bodyPr/>
        <a:lstStyle/>
        <a:p>
          <a:endParaRPr lang="en-US"/>
        </a:p>
      </dgm:t>
    </dgm:pt>
    <dgm:pt modelId="{494875DD-54F2-4892-96C2-21DD0CE1B9F8}">
      <dgm:prSet phldrT="[Text]"/>
      <dgm:spPr/>
      <dgm:t>
        <a:bodyPr/>
        <a:lstStyle/>
        <a:p>
          <a:r>
            <a:rPr lang="en-US" dirty="0"/>
            <a:t>Disclosure</a:t>
          </a:r>
        </a:p>
      </dgm:t>
    </dgm:pt>
    <dgm:pt modelId="{D185F959-2ABD-4DB3-8572-FDFF9EB5FB58}" type="parTrans" cxnId="{8A2C50F4-B617-4FB5-898E-A1059A22861F}">
      <dgm:prSet/>
      <dgm:spPr/>
      <dgm:t>
        <a:bodyPr/>
        <a:lstStyle/>
        <a:p>
          <a:endParaRPr lang="en-US"/>
        </a:p>
      </dgm:t>
    </dgm:pt>
    <dgm:pt modelId="{11137ECE-AA6B-4568-BAB5-59DE44D2F11F}" type="sibTrans" cxnId="{8A2C50F4-B617-4FB5-898E-A1059A22861F}">
      <dgm:prSet/>
      <dgm:spPr/>
      <dgm:t>
        <a:bodyPr/>
        <a:lstStyle/>
        <a:p>
          <a:endParaRPr lang="en-US"/>
        </a:p>
      </dgm:t>
    </dgm:pt>
    <dgm:pt modelId="{7EDEC730-3526-4A40-BF7C-D82C32B552CE}">
      <dgm:prSet phldrT="[Text]"/>
      <dgm:spPr/>
      <dgm:t>
        <a:bodyPr/>
        <a:lstStyle/>
        <a:p>
          <a:r>
            <a:rPr lang="en-US" dirty="0"/>
            <a:t>Deception</a:t>
          </a:r>
        </a:p>
      </dgm:t>
    </dgm:pt>
    <dgm:pt modelId="{26BE0F31-C3C5-4AF1-8268-3BBCA74545E0}" type="parTrans" cxnId="{3BB37A35-8656-4C77-A8F0-26221E9F9766}">
      <dgm:prSet/>
      <dgm:spPr/>
      <dgm:t>
        <a:bodyPr/>
        <a:lstStyle/>
        <a:p>
          <a:endParaRPr lang="en-US"/>
        </a:p>
      </dgm:t>
    </dgm:pt>
    <dgm:pt modelId="{8543143D-5AFA-4723-B56E-A37DFA8D7E1A}" type="sibTrans" cxnId="{3BB37A35-8656-4C77-A8F0-26221E9F9766}">
      <dgm:prSet/>
      <dgm:spPr/>
      <dgm:t>
        <a:bodyPr/>
        <a:lstStyle/>
        <a:p>
          <a:endParaRPr lang="en-US"/>
        </a:p>
      </dgm:t>
    </dgm:pt>
    <dgm:pt modelId="{B8B7B1D7-435A-43C5-8162-D10541468365}">
      <dgm:prSet/>
      <dgm:spPr/>
      <dgm:t>
        <a:bodyPr/>
        <a:lstStyle/>
        <a:p>
          <a:r>
            <a:rPr lang="en-US" dirty="0"/>
            <a:t>Disruption</a:t>
          </a:r>
        </a:p>
      </dgm:t>
    </dgm:pt>
    <dgm:pt modelId="{52820076-B782-4C10-B49B-6396DD42DA1D}" type="parTrans" cxnId="{44E09705-B0C9-4DF5-842C-AD43EAAD8770}">
      <dgm:prSet/>
      <dgm:spPr/>
      <dgm:t>
        <a:bodyPr/>
        <a:lstStyle/>
        <a:p>
          <a:endParaRPr lang="en-US"/>
        </a:p>
      </dgm:t>
    </dgm:pt>
    <dgm:pt modelId="{7FF286DA-5CA6-4DAA-9582-485080CBE6C9}" type="sibTrans" cxnId="{44E09705-B0C9-4DF5-842C-AD43EAAD8770}">
      <dgm:prSet/>
      <dgm:spPr/>
      <dgm:t>
        <a:bodyPr/>
        <a:lstStyle/>
        <a:p>
          <a:endParaRPr lang="en-US"/>
        </a:p>
      </dgm:t>
    </dgm:pt>
    <dgm:pt modelId="{CEDF0017-0DDA-4FF0-92E1-DF65ACF8F4A3}">
      <dgm:prSet/>
      <dgm:spPr/>
      <dgm:t>
        <a:bodyPr/>
        <a:lstStyle/>
        <a:p>
          <a:r>
            <a:rPr lang="en-US" dirty="0"/>
            <a:t>Usurpation</a:t>
          </a:r>
        </a:p>
      </dgm:t>
    </dgm:pt>
    <dgm:pt modelId="{D3AE2812-7138-4D18-9E63-167CB0E26DB8}" type="parTrans" cxnId="{79F6B390-F09E-4C2C-A5B3-0D32F5DDABA2}">
      <dgm:prSet/>
      <dgm:spPr/>
      <dgm:t>
        <a:bodyPr/>
        <a:lstStyle/>
        <a:p>
          <a:endParaRPr lang="en-US"/>
        </a:p>
      </dgm:t>
    </dgm:pt>
    <dgm:pt modelId="{2418836F-D520-49D6-902F-A88EB62924ED}" type="sibTrans" cxnId="{79F6B390-F09E-4C2C-A5B3-0D32F5DDABA2}">
      <dgm:prSet/>
      <dgm:spPr/>
      <dgm:t>
        <a:bodyPr/>
        <a:lstStyle/>
        <a:p>
          <a:endParaRPr lang="en-US"/>
        </a:p>
      </dgm:t>
    </dgm:pt>
    <dgm:pt modelId="{468D78BC-44CE-4A88-A235-7EE2F3FCA677}" type="pres">
      <dgm:prSet presAssocID="{C9B37B71-A904-4208-ADA8-F5D26266EA1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9272E11-84BB-4BDE-85A8-EB6378A31150}" type="pres">
      <dgm:prSet presAssocID="{F86ACE99-F545-462F-B20D-6F9F957203CD}" presName="hierRoot1" presStyleCnt="0"/>
      <dgm:spPr/>
    </dgm:pt>
    <dgm:pt modelId="{A4EAEF7C-89CE-4522-9CBB-C74EB2B3DD0C}" type="pres">
      <dgm:prSet presAssocID="{F86ACE99-F545-462F-B20D-6F9F957203CD}" presName="composite" presStyleCnt="0"/>
      <dgm:spPr/>
    </dgm:pt>
    <dgm:pt modelId="{40F0C96D-F63F-455A-B44B-587C89809F87}" type="pres">
      <dgm:prSet presAssocID="{F86ACE99-F545-462F-B20D-6F9F957203CD}" presName="background" presStyleLbl="node0" presStyleIdx="0" presStyleCnt="1"/>
      <dgm:spPr/>
    </dgm:pt>
    <dgm:pt modelId="{2A516BCE-160B-403D-B57D-14B3CA3372B9}" type="pres">
      <dgm:prSet presAssocID="{F86ACE99-F545-462F-B20D-6F9F957203CD}" presName="text" presStyleLbl="fgAcc0" presStyleIdx="0" presStyleCnt="1">
        <dgm:presLayoutVars>
          <dgm:chPref val="3"/>
        </dgm:presLayoutVars>
      </dgm:prSet>
      <dgm:spPr/>
    </dgm:pt>
    <dgm:pt modelId="{C69B5C7E-6629-479C-A4B3-7FC8F50E7778}" type="pres">
      <dgm:prSet presAssocID="{F86ACE99-F545-462F-B20D-6F9F957203CD}" presName="hierChild2" presStyleCnt="0"/>
      <dgm:spPr/>
    </dgm:pt>
    <dgm:pt modelId="{A01EBD24-D39E-4594-94F7-C85A8B90B860}" type="pres">
      <dgm:prSet presAssocID="{D185F959-2ABD-4DB3-8572-FDFF9EB5FB58}" presName="Name10" presStyleLbl="parChTrans1D2" presStyleIdx="0" presStyleCnt="4"/>
      <dgm:spPr/>
    </dgm:pt>
    <dgm:pt modelId="{BAD57B84-EA49-4478-AA14-9CD41D9142F9}" type="pres">
      <dgm:prSet presAssocID="{494875DD-54F2-4892-96C2-21DD0CE1B9F8}" presName="hierRoot2" presStyleCnt="0"/>
      <dgm:spPr/>
    </dgm:pt>
    <dgm:pt modelId="{54B8549F-C751-4C4D-A1CA-02B839841984}" type="pres">
      <dgm:prSet presAssocID="{494875DD-54F2-4892-96C2-21DD0CE1B9F8}" presName="composite2" presStyleCnt="0"/>
      <dgm:spPr/>
    </dgm:pt>
    <dgm:pt modelId="{D63FEBDA-7B78-4E52-B41D-8E2F28E88A11}" type="pres">
      <dgm:prSet presAssocID="{494875DD-54F2-4892-96C2-21DD0CE1B9F8}" presName="background2" presStyleLbl="node2" presStyleIdx="0" presStyleCnt="4"/>
      <dgm:spPr/>
    </dgm:pt>
    <dgm:pt modelId="{6AA0E7ED-4C97-4F3A-9060-173A74893144}" type="pres">
      <dgm:prSet presAssocID="{494875DD-54F2-4892-96C2-21DD0CE1B9F8}" presName="text2" presStyleLbl="fgAcc2" presStyleIdx="0" presStyleCnt="4">
        <dgm:presLayoutVars>
          <dgm:chPref val="3"/>
        </dgm:presLayoutVars>
      </dgm:prSet>
      <dgm:spPr/>
    </dgm:pt>
    <dgm:pt modelId="{11FAEA69-9172-4714-BA32-12588D49698E}" type="pres">
      <dgm:prSet presAssocID="{494875DD-54F2-4892-96C2-21DD0CE1B9F8}" presName="hierChild3" presStyleCnt="0"/>
      <dgm:spPr/>
    </dgm:pt>
    <dgm:pt modelId="{57374E42-3164-4B32-A0E2-F60F3EA4E4B5}" type="pres">
      <dgm:prSet presAssocID="{26BE0F31-C3C5-4AF1-8268-3BBCA74545E0}" presName="Name10" presStyleLbl="parChTrans1D2" presStyleIdx="1" presStyleCnt="4"/>
      <dgm:spPr/>
    </dgm:pt>
    <dgm:pt modelId="{E6B73262-434A-41CF-8F85-30B785973466}" type="pres">
      <dgm:prSet presAssocID="{7EDEC730-3526-4A40-BF7C-D82C32B552CE}" presName="hierRoot2" presStyleCnt="0"/>
      <dgm:spPr/>
    </dgm:pt>
    <dgm:pt modelId="{4C0D1C28-1D59-415F-B743-9E2A66EE474B}" type="pres">
      <dgm:prSet presAssocID="{7EDEC730-3526-4A40-BF7C-D82C32B552CE}" presName="composite2" presStyleCnt="0"/>
      <dgm:spPr/>
    </dgm:pt>
    <dgm:pt modelId="{B8D777F9-4E0B-491A-9A82-2EFC8619C803}" type="pres">
      <dgm:prSet presAssocID="{7EDEC730-3526-4A40-BF7C-D82C32B552CE}" presName="background2" presStyleLbl="node2" presStyleIdx="1" presStyleCnt="4"/>
      <dgm:spPr/>
    </dgm:pt>
    <dgm:pt modelId="{69613A9D-7624-4C7E-B5D4-5A05EE4A1349}" type="pres">
      <dgm:prSet presAssocID="{7EDEC730-3526-4A40-BF7C-D82C32B552CE}" presName="text2" presStyleLbl="fgAcc2" presStyleIdx="1" presStyleCnt="4" custLinFactNeighborX="1946" custLinFactNeighborY="-554">
        <dgm:presLayoutVars>
          <dgm:chPref val="3"/>
        </dgm:presLayoutVars>
      </dgm:prSet>
      <dgm:spPr/>
    </dgm:pt>
    <dgm:pt modelId="{3A02943E-93F0-4D1A-ACC1-39C07D9AA051}" type="pres">
      <dgm:prSet presAssocID="{7EDEC730-3526-4A40-BF7C-D82C32B552CE}" presName="hierChild3" presStyleCnt="0"/>
      <dgm:spPr/>
    </dgm:pt>
    <dgm:pt modelId="{0F7F970A-DE72-409B-A7C6-58DE0D1F67A7}" type="pres">
      <dgm:prSet presAssocID="{52820076-B782-4C10-B49B-6396DD42DA1D}" presName="Name10" presStyleLbl="parChTrans1D2" presStyleIdx="2" presStyleCnt="4"/>
      <dgm:spPr/>
    </dgm:pt>
    <dgm:pt modelId="{D2A70FEE-A486-4BEC-9119-C2D32504650E}" type="pres">
      <dgm:prSet presAssocID="{B8B7B1D7-435A-43C5-8162-D10541468365}" presName="hierRoot2" presStyleCnt="0"/>
      <dgm:spPr/>
    </dgm:pt>
    <dgm:pt modelId="{0098DB14-54BE-4541-A7F1-E42D899F103E}" type="pres">
      <dgm:prSet presAssocID="{B8B7B1D7-435A-43C5-8162-D10541468365}" presName="composite2" presStyleCnt="0"/>
      <dgm:spPr/>
    </dgm:pt>
    <dgm:pt modelId="{D765A187-4BDC-459E-9C37-7D70BD8F3C23}" type="pres">
      <dgm:prSet presAssocID="{B8B7B1D7-435A-43C5-8162-D10541468365}" presName="background2" presStyleLbl="node2" presStyleIdx="2" presStyleCnt="4"/>
      <dgm:spPr/>
    </dgm:pt>
    <dgm:pt modelId="{B765CC85-65B6-4AB0-AFCE-AC6C6A6A97B5}" type="pres">
      <dgm:prSet presAssocID="{B8B7B1D7-435A-43C5-8162-D10541468365}" presName="text2" presStyleLbl="fgAcc2" presStyleIdx="2" presStyleCnt="4">
        <dgm:presLayoutVars>
          <dgm:chPref val="3"/>
        </dgm:presLayoutVars>
      </dgm:prSet>
      <dgm:spPr/>
    </dgm:pt>
    <dgm:pt modelId="{B8D5EB96-F0FC-485D-B807-C4073DA59C7C}" type="pres">
      <dgm:prSet presAssocID="{B8B7B1D7-435A-43C5-8162-D10541468365}" presName="hierChild3" presStyleCnt="0"/>
      <dgm:spPr/>
    </dgm:pt>
    <dgm:pt modelId="{779E476D-E11D-4F6A-895A-2559CC1A4B40}" type="pres">
      <dgm:prSet presAssocID="{D3AE2812-7138-4D18-9E63-167CB0E26DB8}" presName="Name10" presStyleLbl="parChTrans1D2" presStyleIdx="3" presStyleCnt="4"/>
      <dgm:spPr/>
    </dgm:pt>
    <dgm:pt modelId="{2C7689C4-C559-4EF9-9F83-CEE7489DF042}" type="pres">
      <dgm:prSet presAssocID="{CEDF0017-0DDA-4FF0-92E1-DF65ACF8F4A3}" presName="hierRoot2" presStyleCnt="0"/>
      <dgm:spPr/>
    </dgm:pt>
    <dgm:pt modelId="{6A30CC8E-9045-4387-AB9C-B526F931615E}" type="pres">
      <dgm:prSet presAssocID="{CEDF0017-0DDA-4FF0-92E1-DF65ACF8F4A3}" presName="composite2" presStyleCnt="0"/>
      <dgm:spPr/>
    </dgm:pt>
    <dgm:pt modelId="{38B0E280-F309-431D-840A-8B1D4EEB42BA}" type="pres">
      <dgm:prSet presAssocID="{CEDF0017-0DDA-4FF0-92E1-DF65ACF8F4A3}" presName="background2" presStyleLbl="node2" presStyleIdx="3" presStyleCnt="4"/>
      <dgm:spPr/>
    </dgm:pt>
    <dgm:pt modelId="{A32197C0-1B97-4862-9BC1-63B4EB964731}" type="pres">
      <dgm:prSet presAssocID="{CEDF0017-0DDA-4FF0-92E1-DF65ACF8F4A3}" presName="text2" presStyleLbl="fgAcc2" presStyleIdx="3" presStyleCnt="4">
        <dgm:presLayoutVars>
          <dgm:chPref val="3"/>
        </dgm:presLayoutVars>
      </dgm:prSet>
      <dgm:spPr/>
    </dgm:pt>
    <dgm:pt modelId="{09E513A7-2509-486B-A86E-FCB9EFA42120}" type="pres">
      <dgm:prSet presAssocID="{CEDF0017-0DDA-4FF0-92E1-DF65ACF8F4A3}" presName="hierChild3" presStyleCnt="0"/>
      <dgm:spPr/>
    </dgm:pt>
  </dgm:ptLst>
  <dgm:cxnLst>
    <dgm:cxn modelId="{44E09705-B0C9-4DF5-842C-AD43EAAD8770}" srcId="{F86ACE99-F545-462F-B20D-6F9F957203CD}" destId="{B8B7B1D7-435A-43C5-8162-D10541468365}" srcOrd="2" destOrd="0" parTransId="{52820076-B782-4C10-B49B-6396DD42DA1D}" sibTransId="{7FF286DA-5CA6-4DAA-9582-485080CBE6C9}"/>
    <dgm:cxn modelId="{DBABEF08-7503-481B-BC04-B47D8E7F0F48}" type="presOf" srcId="{D3AE2812-7138-4D18-9E63-167CB0E26DB8}" destId="{779E476D-E11D-4F6A-895A-2559CC1A4B40}" srcOrd="0" destOrd="0" presId="urn:microsoft.com/office/officeart/2005/8/layout/hierarchy1"/>
    <dgm:cxn modelId="{3BB37A35-8656-4C77-A8F0-26221E9F9766}" srcId="{F86ACE99-F545-462F-B20D-6F9F957203CD}" destId="{7EDEC730-3526-4A40-BF7C-D82C32B552CE}" srcOrd="1" destOrd="0" parTransId="{26BE0F31-C3C5-4AF1-8268-3BBCA74545E0}" sibTransId="{8543143D-5AFA-4723-B56E-A37DFA8D7E1A}"/>
    <dgm:cxn modelId="{E537785C-C194-41E3-922D-DE2CB6ADD17E}" type="presOf" srcId="{52820076-B782-4C10-B49B-6396DD42DA1D}" destId="{0F7F970A-DE72-409B-A7C6-58DE0D1F67A7}" srcOrd="0" destOrd="0" presId="urn:microsoft.com/office/officeart/2005/8/layout/hierarchy1"/>
    <dgm:cxn modelId="{77AC6B5E-7407-4063-8C26-1F924B4FC89B}" type="presOf" srcId="{494875DD-54F2-4892-96C2-21DD0CE1B9F8}" destId="{6AA0E7ED-4C97-4F3A-9060-173A74893144}" srcOrd="0" destOrd="0" presId="urn:microsoft.com/office/officeart/2005/8/layout/hierarchy1"/>
    <dgm:cxn modelId="{5355AE5E-73B7-41BE-B751-B2CBBE8F365D}" type="presOf" srcId="{F86ACE99-F545-462F-B20D-6F9F957203CD}" destId="{2A516BCE-160B-403D-B57D-14B3CA3372B9}" srcOrd="0" destOrd="0" presId="urn:microsoft.com/office/officeart/2005/8/layout/hierarchy1"/>
    <dgm:cxn modelId="{5A940945-1BDF-4F6A-BFAE-DE8FE198AEE1}" type="presOf" srcId="{D185F959-2ABD-4DB3-8572-FDFF9EB5FB58}" destId="{A01EBD24-D39E-4594-94F7-C85A8B90B860}" srcOrd="0" destOrd="0" presId="urn:microsoft.com/office/officeart/2005/8/layout/hierarchy1"/>
    <dgm:cxn modelId="{0051AB65-0007-4863-8589-D42DA7ABD502}" type="presOf" srcId="{7EDEC730-3526-4A40-BF7C-D82C32B552CE}" destId="{69613A9D-7624-4C7E-B5D4-5A05EE4A1349}" srcOrd="0" destOrd="0" presId="urn:microsoft.com/office/officeart/2005/8/layout/hierarchy1"/>
    <dgm:cxn modelId="{62C18675-2D02-4706-94EA-BCD096A8F82E}" type="presOf" srcId="{B8B7B1D7-435A-43C5-8162-D10541468365}" destId="{B765CC85-65B6-4AB0-AFCE-AC6C6A6A97B5}" srcOrd="0" destOrd="0" presId="urn:microsoft.com/office/officeart/2005/8/layout/hierarchy1"/>
    <dgm:cxn modelId="{79F6B390-F09E-4C2C-A5B3-0D32F5DDABA2}" srcId="{F86ACE99-F545-462F-B20D-6F9F957203CD}" destId="{CEDF0017-0DDA-4FF0-92E1-DF65ACF8F4A3}" srcOrd="3" destOrd="0" parTransId="{D3AE2812-7138-4D18-9E63-167CB0E26DB8}" sibTransId="{2418836F-D520-49D6-902F-A88EB62924ED}"/>
    <dgm:cxn modelId="{0291C2BC-F149-4E84-A3E9-78DFCD4F1B94}" type="presOf" srcId="{C9B37B71-A904-4208-ADA8-F5D26266EA13}" destId="{468D78BC-44CE-4A88-A235-7EE2F3FCA677}" srcOrd="0" destOrd="0" presId="urn:microsoft.com/office/officeart/2005/8/layout/hierarchy1"/>
    <dgm:cxn modelId="{AAFCF7DA-A5CB-4283-8DFD-C53D046A8719}" type="presOf" srcId="{CEDF0017-0DDA-4FF0-92E1-DF65ACF8F4A3}" destId="{A32197C0-1B97-4862-9BC1-63B4EB964731}" srcOrd="0" destOrd="0" presId="urn:microsoft.com/office/officeart/2005/8/layout/hierarchy1"/>
    <dgm:cxn modelId="{8A2C50F4-B617-4FB5-898E-A1059A22861F}" srcId="{F86ACE99-F545-462F-B20D-6F9F957203CD}" destId="{494875DD-54F2-4892-96C2-21DD0CE1B9F8}" srcOrd="0" destOrd="0" parTransId="{D185F959-2ABD-4DB3-8572-FDFF9EB5FB58}" sibTransId="{11137ECE-AA6B-4568-BAB5-59DE44D2F11F}"/>
    <dgm:cxn modelId="{8EF41CF6-F4DE-4CB8-ACB3-835D6F6E4FE7}" srcId="{C9B37B71-A904-4208-ADA8-F5D26266EA13}" destId="{F86ACE99-F545-462F-B20D-6F9F957203CD}" srcOrd="0" destOrd="0" parTransId="{34913162-9201-422F-AAB6-2A0C51186976}" sibTransId="{307718DF-4201-4018-B2B4-47F13C7CF950}"/>
    <dgm:cxn modelId="{2A0149FB-7727-4247-8806-EF1DCBF6237C}" type="presOf" srcId="{26BE0F31-C3C5-4AF1-8268-3BBCA74545E0}" destId="{57374E42-3164-4B32-A0E2-F60F3EA4E4B5}" srcOrd="0" destOrd="0" presId="urn:microsoft.com/office/officeart/2005/8/layout/hierarchy1"/>
    <dgm:cxn modelId="{3A656809-D87A-4D23-9A56-3D65121C5E13}" type="presParOf" srcId="{468D78BC-44CE-4A88-A235-7EE2F3FCA677}" destId="{09272E11-84BB-4BDE-85A8-EB6378A31150}" srcOrd="0" destOrd="0" presId="urn:microsoft.com/office/officeart/2005/8/layout/hierarchy1"/>
    <dgm:cxn modelId="{23E81D08-E927-407F-B51B-6EA7A06D6313}" type="presParOf" srcId="{09272E11-84BB-4BDE-85A8-EB6378A31150}" destId="{A4EAEF7C-89CE-4522-9CBB-C74EB2B3DD0C}" srcOrd="0" destOrd="0" presId="urn:microsoft.com/office/officeart/2005/8/layout/hierarchy1"/>
    <dgm:cxn modelId="{58B36B40-2C0D-4C6D-AD3F-F50184E77B8E}" type="presParOf" srcId="{A4EAEF7C-89CE-4522-9CBB-C74EB2B3DD0C}" destId="{40F0C96D-F63F-455A-B44B-587C89809F87}" srcOrd="0" destOrd="0" presId="urn:microsoft.com/office/officeart/2005/8/layout/hierarchy1"/>
    <dgm:cxn modelId="{9359ACB7-8685-4673-811B-4D00E70F3D2C}" type="presParOf" srcId="{A4EAEF7C-89CE-4522-9CBB-C74EB2B3DD0C}" destId="{2A516BCE-160B-403D-B57D-14B3CA3372B9}" srcOrd="1" destOrd="0" presId="urn:microsoft.com/office/officeart/2005/8/layout/hierarchy1"/>
    <dgm:cxn modelId="{2F335EFB-391C-44D9-B74B-60ED7F158327}" type="presParOf" srcId="{09272E11-84BB-4BDE-85A8-EB6378A31150}" destId="{C69B5C7E-6629-479C-A4B3-7FC8F50E7778}" srcOrd="1" destOrd="0" presId="urn:microsoft.com/office/officeart/2005/8/layout/hierarchy1"/>
    <dgm:cxn modelId="{51068BFA-CB58-4005-926A-7A523172CE4C}" type="presParOf" srcId="{C69B5C7E-6629-479C-A4B3-7FC8F50E7778}" destId="{A01EBD24-D39E-4594-94F7-C85A8B90B860}" srcOrd="0" destOrd="0" presId="urn:microsoft.com/office/officeart/2005/8/layout/hierarchy1"/>
    <dgm:cxn modelId="{2EFAD66E-D5B3-42C0-9B98-92A0A8DBE06D}" type="presParOf" srcId="{C69B5C7E-6629-479C-A4B3-7FC8F50E7778}" destId="{BAD57B84-EA49-4478-AA14-9CD41D9142F9}" srcOrd="1" destOrd="0" presId="urn:microsoft.com/office/officeart/2005/8/layout/hierarchy1"/>
    <dgm:cxn modelId="{0ADB6E14-042B-4C22-8227-EC91F7741BAB}" type="presParOf" srcId="{BAD57B84-EA49-4478-AA14-9CD41D9142F9}" destId="{54B8549F-C751-4C4D-A1CA-02B839841984}" srcOrd="0" destOrd="0" presId="urn:microsoft.com/office/officeart/2005/8/layout/hierarchy1"/>
    <dgm:cxn modelId="{47C75CCE-1AE9-46AC-AA53-98B16B4FEFEF}" type="presParOf" srcId="{54B8549F-C751-4C4D-A1CA-02B839841984}" destId="{D63FEBDA-7B78-4E52-B41D-8E2F28E88A11}" srcOrd="0" destOrd="0" presId="urn:microsoft.com/office/officeart/2005/8/layout/hierarchy1"/>
    <dgm:cxn modelId="{8831C7B7-90A7-4F72-AC01-167EE0E1ABB7}" type="presParOf" srcId="{54B8549F-C751-4C4D-A1CA-02B839841984}" destId="{6AA0E7ED-4C97-4F3A-9060-173A74893144}" srcOrd="1" destOrd="0" presId="urn:microsoft.com/office/officeart/2005/8/layout/hierarchy1"/>
    <dgm:cxn modelId="{AC9F7AC1-E8E6-465B-A71F-720A67A3B08E}" type="presParOf" srcId="{BAD57B84-EA49-4478-AA14-9CD41D9142F9}" destId="{11FAEA69-9172-4714-BA32-12588D49698E}" srcOrd="1" destOrd="0" presId="urn:microsoft.com/office/officeart/2005/8/layout/hierarchy1"/>
    <dgm:cxn modelId="{59AEE1FF-8316-4881-B491-7B0F9663F1D3}" type="presParOf" srcId="{C69B5C7E-6629-479C-A4B3-7FC8F50E7778}" destId="{57374E42-3164-4B32-A0E2-F60F3EA4E4B5}" srcOrd="2" destOrd="0" presId="urn:microsoft.com/office/officeart/2005/8/layout/hierarchy1"/>
    <dgm:cxn modelId="{BF4DAA27-7FB6-4EF8-B53D-730A49D60968}" type="presParOf" srcId="{C69B5C7E-6629-479C-A4B3-7FC8F50E7778}" destId="{E6B73262-434A-41CF-8F85-30B785973466}" srcOrd="3" destOrd="0" presId="urn:microsoft.com/office/officeart/2005/8/layout/hierarchy1"/>
    <dgm:cxn modelId="{FA978A9E-719A-46F2-8AF2-E7C0CAE8FD12}" type="presParOf" srcId="{E6B73262-434A-41CF-8F85-30B785973466}" destId="{4C0D1C28-1D59-415F-B743-9E2A66EE474B}" srcOrd="0" destOrd="0" presId="urn:microsoft.com/office/officeart/2005/8/layout/hierarchy1"/>
    <dgm:cxn modelId="{0C3289F8-A8B6-4A64-AF54-CD948A42D7AE}" type="presParOf" srcId="{4C0D1C28-1D59-415F-B743-9E2A66EE474B}" destId="{B8D777F9-4E0B-491A-9A82-2EFC8619C803}" srcOrd="0" destOrd="0" presId="urn:microsoft.com/office/officeart/2005/8/layout/hierarchy1"/>
    <dgm:cxn modelId="{CF316419-ABDF-403B-9BD5-4C1CBEC2EE65}" type="presParOf" srcId="{4C0D1C28-1D59-415F-B743-9E2A66EE474B}" destId="{69613A9D-7624-4C7E-B5D4-5A05EE4A1349}" srcOrd="1" destOrd="0" presId="urn:microsoft.com/office/officeart/2005/8/layout/hierarchy1"/>
    <dgm:cxn modelId="{CB9AFEC6-4860-43EB-BF90-D245B195B549}" type="presParOf" srcId="{E6B73262-434A-41CF-8F85-30B785973466}" destId="{3A02943E-93F0-4D1A-ACC1-39C07D9AA051}" srcOrd="1" destOrd="0" presId="urn:microsoft.com/office/officeart/2005/8/layout/hierarchy1"/>
    <dgm:cxn modelId="{48DF24E4-ABA2-448E-91A5-713D970CC4E2}" type="presParOf" srcId="{C69B5C7E-6629-479C-A4B3-7FC8F50E7778}" destId="{0F7F970A-DE72-409B-A7C6-58DE0D1F67A7}" srcOrd="4" destOrd="0" presId="urn:microsoft.com/office/officeart/2005/8/layout/hierarchy1"/>
    <dgm:cxn modelId="{ABC6B3F2-0812-45D9-B69F-6DD3B395D314}" type="presParOf" srcId="{C69B5C7E-6629-479C-A4B3-7FC8F50E7778}" destId="{D2A70FEE-A486-4BEC-9119-C2D32504650E}" srcOrd="5" destOrd="0" presId="urn:microsoft.com/office/officeart/2005/8/layout/hierarchy1"/>
    <dgm:cxn modelId="{005AE768-7997-4D3A-8692-716BD20A1157}" type="presParOf" srcId="{D2A70FEE-A486-4BEC-9119-C2D32504650E}" destId="{0098DB14-54BE-4541-A7F1-E42D899F103E}" srcOrd="0" destOrd="0" presId="urn:microsoft.com/office/officeart/2005/8/layout/hierarchy1"/>
    <dgm:cxn modelId="{6CB5967F-A284-46D2-87F8-C34CB2DB550F}" type="presParOf" srcId="{0098DB14-54BE-4541-A7F1-E42D899F103E}" destId="{D765A187-4BDC-459E-9C37-7D70BD8F3C23}" srcOrd="0" destOrd="0" presId="urn:microsoft.com/office/officeart/2005/8/layout/hierarchy1"/>
    <dgm:cxn modelId="{CDAE3199-D47C-4B9D-B02D-7DFFBEDB6461}" type="presParOf" srcId="{0098DB14-54BE-4541-A7F1-E42D899F103E}" destId="{B765CC85-65B6-4AB0-AFCE-AC6C6A6A97B5}" srcOrd="1" destOrd="0" presId="urn:microsoft.com/office/officeart/2005/8/layout/hierarchy1"/>
    <dgm:cxn modelId="{6C8C258C-24DD-4AB5-ACC0-62B56163DFEF}" type="presParOf" srcId="{D2A70FEE-A486-4BEC-9119-C2D32504650E}" destId="{B8D5EB96-F0FC-485D-B807-C4073DA59C7C}" srcOrd="1" destOrd="0" presId="urn:microsoft.com/office/officeart/2005/8/layout/hierarchy1"/>
    <dgm:cxn modelId="{E3364880-34EE-4B3F-8021-CAC70178326B}" type="presParOf" srcId="{C69B5C7E-6629-479C-A4B3-7FC8F50E7778}" destId="{779E476D-E11D-4F6A-895A-2559CC1A4B40}" srcOrd="6" destOrd="0" presId="urn:microsoft.com/office/officeart/2005/8/layout/hierarchy1"/>
    <dgm:cxn modelId="{19F7C4E1-7E26-4A02-BF88-E73DF9250007}" type="presParOf" srcId="{C69B5C7E-6629-479C-A4B3-7FC8F50E7778}" destId="{2C7689C4-C559-4EF9-9F83-CEE7489DF042}" srcOrd="7" destOrd="0" presId="urn:microsoft.com/office/officeart/2005/8/layout/hierarchy1"/>
    <dgm:cxn modelId="{E8ACCE01-A949-424C-AFDB-8A9EE0C7719B}" type="presParOf" srcId="{2C7689C4-C559-4EF9-9F83-CEE7489DF042}" destId="{6A30CC8E-9045-4387-AB9C-B526F931615E}" srcOrd="0" destOrd="0" presId="urn:microsoft.com/office/officeart/2005/8/layout/hierarchy1"/>
    <dgm:cxn modelId="{1DA318D5-497F-4FED-9FFA-C28BF9477A33}" type="presParOf" srcId="{6A30CC8E-9045-4387-AB9C-B526F931615E}" destId="{38B0E280-F309-431D-840A-8B1D4EEB42BA}" srcOrd="0" destOrd="0" presId="urn:microsoft.com/office/officeart/2005/8/layout/hierarchy1"/>
    <dgm:cxn modelId="{E87DC37A-2465-4C27-9EA7-7F02B6D95CFF}" type="presParOf" srcId="{6A30CC8E-9045-4387-AB9C-B526F931615E}" destId="{A32197C0-1B97-4862-9BC1-63B4EB964731}" srcOrd="1" destOrd="0" presId="urn:microsoft.com/office/officeart/2005/8/layout/hierarchy1"/>
    <dgm:cxn modelId="{CAB9D045-98AB-41A8-8CEB-7E657B538EBB}" type="presParOf" srcId="{2C7689C4-C559-4EF9-9F83-CEE7489DF042}" destId="{09E513A7-2509-486B-A86E-FCB9EFA4212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22129E7-0ACC-47AC-AD35-FD2DC041178D}" type="doc">
      <dgm:prSet loTypeId="urn:microsoft.com/office/officeart/2005/8/layout/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ED41316-A5C8-4102-81A7-A2E146E47376}">
      <dgm:prSet phldrT="[Text]"/>
      <dgm:spPr/>
      <dgm:t>
        <a:bodyPr/>
        <a:lstStyle/>
        <a:p>
          <a:r>
            <a:rPr lang="en-US" b="1" dirty="0"/>
            <a:t>PREVENTION</a:t>
          </a:r>
        </a:p>
      </dgm:t>
    </dgm:pt>
    <dgm:pt modelId="{624AD3F9-4155-43B8-8457-B82331418947}" type="parTrans" cxnId="{5ACAAB09-EFF7-4DD4-B454-7067DD542D3D}">
      <dgm:prSet/>
      <dgm:spPr/>
      <dgm:t>
        <a:bodyPr/>
        <a:lstStyle/>
        <a:p>
          <a:endParaRPr lang="en-US" b="1"/>
        </a:p>
      </dgm:t>
    </dgm:pt>
    <dgm:pt modelId="{F8B8A787-9F55-48AB-91CE-DFFA010702C6}" type="sibTrans" cxnId="{5ACAAB09-EFF7-4DD4-B454-7067DD542D3D}">
      <dgm:prSet/>
      <dgm:spPr/>
      <dgm:t>
        <a:bodyPr/>
        <a:lstStyle/>
        <a:p>
          <a:endParaRPr lang="en-US" b="1"/>
        </a:p>
      </dgm:t>
    </dgm:pt>
    <dgm:pt modelId="{54117AFF-53A5-47B1-8BC1-ABD66DD23C10}">
      <dgm:prSet phldrT="[Text]"/>
      <dgm:spPr/>
      <dgm:t>
        <a:bodyPr/>
        <a:lstStyle/>
        <a:p>
          <a:r>
            <a:rPr lang="en-US" b="1" dirty="0"/>
            <a:t>DETECTION</a:t>
          </a:r>
        </a:p>
      </dgm:t>
    </dgm:pt>
    <dgm:pt modelId="{C57FD9A0-BD53-4948-BADC-0B5D4C660A17}" type="parTrans" cxnId="{482CD8C3-51B3-4192-BFBE-ECBF135F25D3}">
      <dgm:prSet/>
      <dgm:spPr/>
      <dgm:t>
        <a:bodyPr/>
        <a:lstStyle/>
        <a:p>
          <a:endParaRPr lang="en-US" b="1"/>
        </a:p>
      </dgm:t>
    </dgm:pt>
    <dgm:pt modelId="{3C8CDB26-8C7D-44FC-BF4B-70C8EE3CFCA3}" type="sibTrans" cxnId="{482CD8C3-51B3-4192-BFBE-ECBF135F25D3}">
      <dgm:prSet/>
      <dgm:spPr/>
      <dgm:t>
        <a:bodyPr/>
        <a:lstStyle/>
        <a:p>
          <a:endParaRPr lang="en-US" b="1"/>
        </a:p>
      </dgm:t>
    </dgm:pt>
    <dgm:pt modelId="{7C060755-FB1C-4604-B318-A87E6758E6AD}">
      <dgm:prSet phldrT="[Text]"/>
      <dgm:spPr/>
      <dgm:t>
        <a:bodyPr/>
        <a:lstStyle/>
        <a:p>
          <a:r>
            <a:rPr lang="en-US" b="1" dirty="0"/>
            <a:t>RECOVERY</a:t>
          </a:r>
        </a:p>
      </dgm:t>
    </dgm:pt>
    <dgm:pt modelId="{4F2CE88F-008C-4DF9-934B-8AF82E14DC98}" type="parTrans" cxnId="{4A909F81-EF4B-4A26-9460-4E53BAD8DD37}">
      <dgm:prSet/>
      <dgm:spPr/>
      <dgm:t>
        <a:bodyPr/>
        <a:lstStyle/>
        <a:p>
          <a:endParaRPr lang="en-US" b="1"/>
        </a:p>
      </dgm:t>
    </dgm:pt>
    <dgm:pt modelId="{3B7B05CF-80A4-4678-9F28-5A98E742F7F6}" type="sibTrans" cxnId="{4A909F81-EF4B-4A26-9460-4E53BAD8DD37}">
      <dgm:prSet/>
      <dgm:spPr/>
      <dgm:t>
        <a:bodyPr/>
        <a:lstStyle/>
        <a:p>
          <a:endParaRPr lang="en-US" b="1"/>
        </a:p>
      </dgm:t>
    </dgm:pt>
    <dgm:pt modelId="{EC6F950A-5AC0-40E6-A958-4920897925B0}" type="pres">
      <dgm:prSet presAssocID="{422129E7-0ACC-47AC-AD35-FD2DC041178D}" presName="linear" presStyleCnt="0">
        <dgm:presLayoutVars>
          <dgm:dir/>
          <dgm:animLvl val="lvl"/>
          <dgm:resizeHandles val="exact"/>
        </dgm:presLayoutVars>
      </dgm:prSet>
      <dgm:spPr/>
    </dgm:pt>
    <dgm:pt modelId="{E76B26ED-63A7-4CDE-8B65-48E4566B23A4}" type="pres">
      <dgm:prSet presAssocID="{DED41316-A5C8-4102-81A7-A2E146E47376}" presName="parentLin" presStyleCnt="0"/>
      <dgm:spPr/>
    </dgm:pt>
    <dgm:pt modelId="{6F8E2E2D-4067-433F-BF12-BC2C1CEEDA63}" type="pres">
      <dgm:prSet presAssocID="{DED41316-A5C8-4102-81A7-A2E146E47376}" presName="parentLeftMargin" presStyleLbl="node1" presStyleIdx="0" presStyleCnt="3"/>
      <dgm:spPr/>
    </dgm:pt>
    <dgm:pt modelId="{8931B512-C567-42D8-9E45-0E17CE815261}" type="pres">
      <dgm:prSet presAssocID="{DED41316-A5C8-4102-81A7-A2E146E4737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1FD1297-DF64-4434-9564-E420B99E6413}" type="pres">
      <dgm:prSet presAssocID="{DED41316-A5C8-4102-81A7-A2E146E47376}" presName="negativeSpace" presStyleCnt="0"/>
      <dgm:spPr/>
    </dgm:pt>
    <dgm:pt modelId="{ED6B3EF7-B9CF-4A02-A57F-3DCC4FDE6401}" type="pres">
      <dgm:prSet presAssocID="{DED41316-A5C8-4102-81A7-A2E146E47376}" presName="childText" presStyleLbl="conFgAcc1" presStyleIdx="0" presStyleCnt="3">
        <dgm:presLayoutVars>
          <dgm:bulletEnabled val="1"/>
        </dgm:presLayoutVars>
      </dgm:prSet>
      <dgm:spPr/>
    </dgm:pt>
    <dgm:pt modelId="{B31EA00B-DD5C-452A-B6C3-19E47BFD26C2}" type="pres">
      <dgm:prSet presAssocID="{F8B8A787-9F55-48AB-91CE-DFFA010702C6}" presName="spaceBetweenRectangles" presStyleCnt="0"/>
      <dgm:spPr/>
    </dgm:pt>
    <dgm:pt modelId="{D6DDA194-A6B8-4C1C-9E37-37ED797BD57B}" type="pres">
      <dgm:prSet presAssocID="{54117AFF-53A5-47B1-8BC1-ABD66DD23C10}" presName="parentLin" presStyleCnt="0"/>
      <dgm:spPr/>
    </dgm:pt>
    <dgm:pt modelId="{9BC08F4A-B6D0-48A1-AE10-E0FFF6654E8F}" type="pres">
      <dgm:prSet presAssocID="{54117AFF-53A5-47B1-8BC1-ABD66DD23C10}" presName="parentLeftMargin" presStyleLbl="node1" presStyleIdx="0" presStyleCnt="3"/>
      <dgm:spPr/>
    </dgm:pt>
    <dgm:pt modelId="{37C8F128-392C-4429-B36E-E64058067060}" type="pres">
      <dgm:prSet presAssocID="{54117AFF-53A5-47B1-8BC1-ABD66DD23C1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E1DFBB2-C142-49E7-A36A-75E402462870}" type="pres">
      <dgm:prSet presAssocID="{54117AFF-53A5-47B1-8BC1-ABD66DD23C10}" presName="negativeSpace" presStyleCnt="0"/>
      <dgm:spPr/>
    </dgm:pt>
    <dgm:pt modelId="{C7F1D5A3-9FD0-4142-BEE0-6E1E13E5B915}" type="pres">
      <dgm:prSet presAssocID="{54117AFF-53A5-47B1-8BC1-ABD66DD23C10}" presName="childText" presStyleLbl="conFgAcc1" presStyleIdx="1" presStyleCnt="3">
        <dgm:presLayoutVars>
          <dgm:bulletEnabled val="1"/>
        </dgm:presLayoutVars>
      </dgm:prSet>
      <dgm:spPr/>
    </dgm:pt>
    <dgm:pt modelId="{58780525-AB56-4FEA-A1B7-04F4D5F0DE24}" type="pres">
      <dgm:prSet presAssocID="{3C8CDB26-8C7D-44FC-BF4B-70C8EE3CFCA3}" presName="spaceBetweenRectangles" presStyleCnt="0"/>
      <dgm:spPr/>
    </dgm:pt>
    <dgm:pt modelId="{58625BE0-98B9-4487-BCE5-102E501A2645}" type="pres">
      <dgm:prSet presAssocID="{7C060755-FB1C-4604-B318-A87E6758E6AD}" presName="parentLin" presStyleCnt="0"/>
      <dgm:spPr/>
    </dgm:pt>
    <dgm:pt modelId="{702F1311-5136-4CC4-8D09-1DD29426A448}" type="pres">
      <dgm:prSet presAssocID="{7C060755-FB1C-4604-B318-A87E6758E6AD}" presName="parentLeftMargin" presStyleLbl="node1" presStyleIdx="1" presStyleCnt="3"/>
      <dgm:spPr/>
    </dgm:pt>
    <dgm:pt modelId="{3622B5D2-7C7A-47E0-A34E-3C1D179E21D4}" type="pres">
      <dgm:prSet presAssocID="{7C060755-FB1C-4604-B318-A87E6758E6A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40EC51C-B8FB-481E-B5B7-3EED7B8AE7C0}" type="pres">
      <dgm:prSet presAssocID="{7C060755-FB1C-4604-B318-A87E6758E6AD}" presName="negativeSpace" presStyleCnt="0"/>
      <dgm:spPr/>
    </dgm:pt>
    <dgm:pt modelId="{24BDEDA4-2FF4-4D1E-848A-7B61D483ECC9}" type="pres">
      <dgm:prSet presAssocID="{7C060755-FB1C-4604-B318-A87E6758E6AD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ACAAB09-EFF7-4DD4-B454-7067DD542D3D}" srcId="{422129E7-0ACC-47AC-AD35-FD2DC041178D}" destId="{DED41316-A5C8-4102-81A7-A2E146E47376}" srcOrd="0" destOrd="0" parTransId="{624AD3F9-4155-43B8-8457-B82331418947}" sibTransId="{F8B8A787-9F55-48AB-91CE-DFFA010702C6}"/>
    <dgm:cxn modelId="{7D47E375-3BF4-445C-A6D3-10BE3B529C25}" type="presOf" srcId="{54117AFF-53A5-47B1-8BC1-ABD66DD23C10}" destId="{9BC08F4A-B6D0-48A1-AE10-E0FFF6654E8F}" srcOrd="0" destOrd="0" presId="urn:microsoft.com/office/officeart/2005/8/layout/list1"/>
    <dgm:cxn modelId="{F0860D59-2AD9-4A6B-9C3A-1A9146D15BDE}" type="presOf" srcId="{54117AFF-53A5-47B1-8BC1-ABD66DD23C10}" destId="{37C8F128-392C-4429-B36E-E64058067060}" srcOrd="1" destOrd="0" presId="urn:microsoft.com/office/officeart/2005/8/layout/list1"/>
    <dgm:cxn modelId="{FAF98680-45EC-4EF5-8581-6C0303F39A32}" type="presOf" srcId="{422129E7-0ACC-47AC-AD35-FD2DC041178D}" destId="{EC6F950A-5AC0-40E6-A958-4920897925B0}" srcOrd="0" destOrd="0" presId="urn:microsoft.com/office/officeart/2005/8/layout/list1"/>
    <dgm:cxn modelId="{4A909F81-EF4B-4A26-9460-4E53BAD8DD37}" srcId="{422129E7-0ACC-47AC-AD35-FD2DC041178D}" destId="{7C060755-FB1C-4604-B318-A87E6758E6AD}" srcOrd="2" destOrd="0" parTransId="{4F2CE88F-008C-4DF9-934B-8AF82E14DC98}" sibTransId="{3B7B05CF-80A4-4678-9F28-5A98E742F7F6}"/>
    <dgm:cxn modelId="{52FE1D86-2A08-4D54-A38F-E0FF6899D3F6}" type="presOf" srcId="{DED41316-A5C8-4102-81A7-A2E146E47376}" destId="{8931B512-C567-42D8-9E45-0E17CE815261}" srcOrd="1" destOrd="0" presId="urn:microsoft.com/office/officeart/2005/8/layout/list1"/>
    <dgm:cxn modelId="{4440FA8B-44C8-4958-BD01-1CD5AE3B3AE3}" type="presOf" srcId="{7C060755-FB1C-4604-B318-A87E6758E6AD}" destId="{702F1311-5136-4CC4-8D09-1DD29426A448}" srcOrd="0" destOrd="0" presId="urn:microsoft.com/office/officeart/2005/8/layout/list1"/>
    <dgm:cxn modelId="{8906E9B6-AB34-4AED-8163-6593D15F9D06}" type="presOf" srcId="{7C060755-FB1C-4604-B318-A87E6758E6AD}" destId="{3622B5D2-7C7A-47E0-A34E-3C1D179E21D4}" srcOrd="1" destOrd="0" presId="urn:microsoft.com/office/officeart/2005/8/layout/list1"/>
    <dgm:cxn modelId="{66CC64BA-0E1D-4D4D-8F00-52500E57D357}" type="presOf" srcId="{DED41316-A5C8-4102-81A7-A2E146E47376}" destId="{6F8E2E2D-4067-433F-BF12-BC2C1CEEDA63}" srcOrd="0" destOrd="0" presId="urn:microsoft.com/office/officeart/2005/8/layout/list1"/>
    <dgm:cxn modelId="{482CD8C3-51B3-4192-BFBE-ECBF135F25D3}" srcId="{422129E7-0ACC-47AC-AD35-FD2DC041178D}" destId="{54117AFF-53A5-47B1-8BC1-ABD66DD23C10}" srcOrd="1" destOrd="0" parTransId="{C57FD9A0-BD53-4948-BADC-0B5D4C660A17}" sibTransId="{3C8CDB26-8C7D-44FC-BF4B-70C8EE3CFCA3}"/>
    <dgm:cxn modelId="{BE7B996D-424C-4868-A5F8-35C9B450FEC6}" type="presParOf" srcId="{EC6F950A-5AC0-40E6-A958-4920897925B0}" destId="{E76B26ED-63A7-4CDE-8B65-48E4566B23A4}" srcOrd="0" destOrd="0" presId="urn:microsoft.com/office/officeart/2005/8/layout/list1"/>
    <dgm:cxn modelId="{B71E5B24-3633-4682-84DB-E29CABEC2C37}" type="presParOf" srcId="{E76B26ED-63A7-4CDE-8B65-48E4566B23A4}" destId="{6F8E2E2D-4067-433F-BF12-BC2C1CEEDA63}" srcOrd="0" destOrd="0" presId="urn:microsoft.com/office/officeart/2005/8/layout/list1"/>
    <dgm:cxn modelId="{6F17DC6D-B782-412C-8ED0-66B9B9B54B63}" type="presParOf" srcId="{E76B26ED-63A7-4CDE-8B65-48E4566B23A4}" destId="{8931B512-C567-42D8-9E45-0E17CE815261}" srcOrd="1" destOrd="0" presId="urn:microsoft.com/office/officeart/2005/8/layout/list1"/>
    <dgm:cxn modelId="{F9B11C7B-8E16-4653-903F-7D7A0DB77EDD}" type="presParOf" srcId="{EC6F950A-5AC0-40E6-A958-4920897925B0}" destId="{51FD1297-DF64-4434-9564-E420B99E6413}" srcOrd="1" destOrd="0" presId="urn:microsoft.com/office/officeart/2005/8/layout/list1"/>
    <dgm:cxn modelId="{26941DF9-D405-445F-B40D-0CED87EE95E4}" type="presParOf" srcId="{EC6F950A-5AC0-40E6-A958-4920897925B0}" destId="{ED6B3EF7-B9CF-4A02-A57F-3DCC4FDE6401}" srcOrd="2" destOrd="0" presId="urn:microsoft.com/office/officeart/2005/8/layout/list1"/>
    <dgm:cxn modelId="{3AC07C1E-9B23-487F-9233-6D7454FCBD48}" type="presParOf" srcId="{EC6F950A-5AC0-40E6-A958-4920897925B0}" destId="{B31EA00B-DD5C-452A-B6C3-19E47BFD26C2}" srcOrd="3" destOrd="0" presId="urn:microsoft.com/office/officeart/2005/8/layout/list1"/>
    <dgm:cxn modelId="{7F3948E0-ABEB-4751-9A65-9DAE9A78F344}" type="presParOf" srcId="{EC6F950A-5AC0-40E6-A958-4920897925B0}" destId="{D6DDA194-A6B8-4C1C-9E37-37ED797BD57B}" srcOrd="4" destOrd="0" presId="urn:microsoft.com/office/officeart/2005/8/layout/list1"/>
    <dgm:cxn modelId="{F6C863AA-5E96-415F-986B-BE79F10058F5}" type="presParOf" srcId="{D6DDA194-A6B8-4C1C-9E37-37ED797BD57B}" destId="{9BC08F4A-B6D0-48A1-AE10-E0FFF6654E8F}" srcOrd="0" destOrd="0" presId="urn:microsoft.com/office/officeart/2005/8/layout/list1"/>
    <dgm:cxn modelId="{A1F1C5D3-6888-4D35-ADFA-172062297A8F}" type="presParOf" srcId="{D6DDA194-A6B8-4C1C-9E37-37ED797BD57B}" destId="{37C8F128-392C-4429-B36E-E64058067060}" srcOrd="1" destOrd="0" presId="urn:microsoft.com/office/officeart/2005/8/layout/list1"/>
    <dgm:cxn modelId="{BC65D424-6431-4F28-935C-597F75690E60}" type="presParOf" srcId="{EC6F950A-5AC0-40E6-A958-4920897925B0}" destId="{3E1DFBB2-C142-49E7-A36A-75E402462870}" srcOrd="5" destOrd="0" presId="urn:microsoft.com/office/officeart/2005/8/layout/list1"/>
    <dgm:cxn modelId="{7782F733-C5D7-46C8-8578-4805B0B3D2E1}" type="presParOf" srcId="{EC6F950A-5AC0-40E6-A958-4920897925B0}" destId="{C7F1D5A3-9FD0-4142-BEE0-6E1E13E5B915}" srcOrd="6" destOrd="0" presId="urn:microsoft.com/office/officeart/2005/8/layout/list1"/>
    <dgm:cxn modelId="{FEB27FFE-AF05-4202-83EE-E23141CC9A90}" type="presParOf" srcId="{EC6F950A-5AC0-40E6-A958-4920897925B0}" destId="{58780525-AB56-4FEA-A1B7-04F4D5F0DE24}" srcOrd="7" destOrd="0" presId="urn:microsoft.com/office/officeart/2005/8/layout/list1"/>
    <dgm:cxn modelId="{498E4BDE-461C-4016-851B-C2A0BFF0219B}" type="presParOf" srcId="{EC6F950A-5AC0-40E6-A958-4920897925B0}" destId="{58625BE0-98B9-4487-BCE5-102E501A2645}" srcOrd="8" destOrd="0" presId="urn:microsoft.com/office/officeart/2005/8/layout/list1"/>
    <dgm:cxn modelId="{62AB1272-42AC-42D6-A41E-8CBC8A8B910E}" type="presParOf" srcId="{58625BE0-98B9-4487-BCE5-102E501A2645}" destId="{702F1311-5136-4CC4-8D09-1DD29426A448}" srcOrd="0" destOrd="0" presId="urn:microsoft.com/office/officeart/2005/8/layout/list1"/>
    <dgm:cxn modelId="{932044E1-721E-4AE0-840A-39CEBBF755EA}" type="presParOf" srcId="{58625BE0-98B9-4487-BCE5-102E501A2645}" destId="{3622B5D2-7C7A-47E0-A34E-3C1D179E21D4}" srcOrd="1" destOrd="0" presId="urn:microsoft.com/office/officeart/2005/8/layout/list1"/>
    <dgm:cxn modelId="{2E9D0FD2-01AB-423D-B41A-9C5C7C871A5C}" type="presParOf" srcId="{EC6F950A-5AC0-40E6-A958-4920897925B0}" destId="{A40EC51C-B8FB-481E-B5B7-3EED7B8AE7C0}" srcOrd="9" destOrd="0" presId="urn:microsoft.com/office/officeart/2005/8/layout/list1"/>
    <dgm:cxn modelId="{8B4BA20F-89A7-4A98-B91E-D12180208699}" type="presParOf" srcId="{EC6F950A-5AC0-40E6-A958-4920897925B0}" destId="{24BDEDA4-2FF4-4D1E-848A-7B61D483ECC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AF8256-4BFF-429E-85B3-099D56983242}">
      <dsp:nvSpPr>
        <dsp:cNvPr id="0" name=""/>
        <dsp:cNvSpPr/>
      </dsp:nvSpPr>
      <dsp:spPr>
        <a:xfrm>
          <a:off x="1293447" y="0"/>
          <a:ext cx="4818352" cy="4818352"/>
        </a:xfrm>
        <a:prstGeom prst="triangle">
          <a:avLst/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65ED0C-E7A3-4427-B7F8-440FCBCBE27D}">
      <dsp:nvSpPr>
        <dsp:cNvPr id="0" name=""/>
        <dsp:cNvSpPr/>
      </dsp:nvSpPr>
      <dsp:spPr>
        <a:xfrm>
          <a:off x="3702623" y="484423"/>
          <a:ext cx="3131928" cy="114059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CONFIDENTIALITY</a:t>
          </a:r>
        </a:p>
      </dsp:txBody>
      <dsp:txXfrm>
        <a:off x="3758302" y="540102"/>
        <a:ext cx="3020570" cy="1029236"/>
      </dsp:txXfrm>
    </dsp:sp>
    <dsp:sp modelId="{7100B218-C421-4D1C-B002-4D810E866963}">
      <dsp:nvSpPr>
        <dsp:cNvPr id="0" name=""/>
        <dsp:cNvSpPr/>
      </dsp:nvSpPr>
      <dsp:spPr>
        <a:xfrm>
          <a:off x="3702623" y="1767591"/>
          <a:ext cx="3131928" cy="114059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50000"/>
              <a:hueOff val="-370661"/>
              <a:satOff val="5772"/>
              <a:lumOff val="287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INTEGRITY</a:t>
          </a:r>
        </a:p>
      </dsp:txBody>
      <dsp:txXfrm>
        <a:off x="3758302" y="1823270"/>
        <a:ext cx="3020570" cy="1029236"/>
      </dsp:txXfrm>
    </dsp:sp>
    <dsp:sp modelId="{A76AEF67-34F1-4A33-BF0E-014DBEEA4E8F}">
      <dsp:nvSpPr>
        <dsp:cNvPr id="0" name=""/>
        <dsp:cNvSpPr/>
      </dsp:nvSpPr>
      <dsp:spPr>
        <a:xfrm>
          <a:off x="3702623" y="3050760"/>
          <a:ext cx="3131928" cy="114059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50000"/>
              <a:hueOff val="-370661"/>
              <a:satOff val="5772"/>
              <a:lumOff val="287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/>
            <a:t>AVAILABILITY</a:t>
          </a:r>
        </a:p>
      </dsp:txBody>
      <dsp:txXfrm>
        <a:off x="3758302" y="3106439"/>
        <a:ext cx="3020570" cy="10292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9E476D-E11D-4F6A-895A-2559CC1A4B40}">
      <dsp:nvSpPr>
        <dsp:cNvPr id="0" name=""/>
        <dsp:cNvSpPr/>
      </dsp:nvSpPr>
      <dsp:spPr>
        <a:xfrm>
          <a:off x="5117589" y="2266027"/>
          <a:ext cx="4018551" cy="6374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4429"/>
              </a:lnTo>
              <a:lnTo>
                <a:pt x="4018551" y="434429"/>
              </a:lnTo>
              <a:lnTo>
                <a:pt x="4018551" y="637488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7F970A-DE72-409B-A7C6-58DE0D1F67A7}">
      <dsp:nvSpPr>
        <dsp:cNvPr id="0" name=""/>
        <dsp:cNvSpPr/>
      </dsp:nvSpPr>
      <dsp:spPr>
        <a:xfrm>
          <a:off x="5117589" y="2266027"/>
          <a:ext cx="1339517" cy="6374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4429"/>
              </a:lnTo>
              <a:lnTo>
                <a:pt x="1339517" y="434429"/>
              </a:lnTo>
              <a:lnTo>
                <a:pt x="1339517" y="637488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374E42-3164-4B32-A0E2-F60F3EA4E4B5}">
      <dsp:nvSpPr>
        <dsp:cNvPr id="0" name=""/>
        <dsp:cNvSpPr/>
      </dsp:nvSpPr>
      <dsp:spPr>
        <a:xfrm>
          <a:off x="3820727" y="2266027"/>
          <a:ext cx="1296861" cy="629777"/>
        </a:xfrm>
        <a:custGeom>
          <a:avLst/>
          <a:gdLst/>
          <a:ahLst/>
          <a:cxnLst/>
          <a:rect l="0" t="0" r="0" b="0"/>
          <a:pathLst>
            <a:path>
              <a:moveTo>
                <a:pt x="1296861" y="0"/>
              </a:moveTo>
              <a:lnTo>
                <a:pt x="1296861" y="426718"/>
              </a:lnTo>
              <a:lnTo>
                <a:pt x="0" y="426718"/>
              </a:lnTo>
              <a:lnTo>
                <a:pt x="0" y="629777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1EBD24-D39E-4594-94F7-C85A8B90B860}">
      <dsp:nvSpPr>
        <dsp:cNvPr id="0" name=""/>
        <dsp:cNvSpPr/>
      </dsp:nvSpPr>
      <dsp:spPr>
        <a:xfrm>
          <a:off x="1099038" y="2266027"/>
          <a:ext cx="4018551" cy="637488"/>
        </a:xfrm>
        <a:custGeom>
          <a:avLst/>
          <a:gdLst/>
          <a:ahLst/>
          <a:cxnLst/>
          <a:rect l="0" t="0" r="0" b="0"/>
          <a:pathLst>
            <a:path>
              <a:moveTo>
                <a:pt x="4018551" y="0"/>
              </a:moveTo>
              <a:lnTo>
                <a:pt x="4018551" y="434429"/>
              </a:lnTo>
              <a:lnTo>
                <a:pt x="0" y="434429"/>
              </a:lnTo>
              <a:lnTo>
                <a:pt x="0" y="637488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F0C96D-F63F-455A-B44B-587C89809F87}">
      <dsp:nvSpPr>
        <dsp:cNvPr id="0" name=""/>
        <dsp:cNvSpPr/>
      </dsp:nvSpPr>
      <dsp:spPr>
        <a:xfrm>
          <a:off x="4021621" y="874147"/>
          <a:ext cx="2191937" cy="13918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516BCE-160B-403D-B57D-14B3CA3372B9}">
      <dsp:nvSpPr>
        <dsp:cNvPr id="0" name=""/>
        <dsp:cNvSpPr/>
      </dsp:nvSpPr>
      <dsp:spPr>
        <a:xfrm>
          <a:off x="4265169" y="1105518"/>
          <a:ext cx="2191937" cy="13918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Threat Classes</a:t>
          </a:r>
        </a:p>
      </dsp:txBody>
      <dsp:txXfrm>
        <a:off x="4305936" y="1146285"/>
        <a:ext cx="2110403" cy="1310346"/>
      </dsp:txXfrm>
    </dsp:sp>
    <dsp:sp modelId="{D63FEBDA-7B78-4E52-B41D-8E2F28E88A11}">
      <dsp:nvSpPr>
        <dsp:cNvPr id="0" name=""/>
        <dsp:cNvSpPr/>
      </dsp:nvSpPr>
      <dsp:spPr>
        <a:xfrm>
          <a:off x="3069" y="2903516"/>
          <a:ext cx="2191937" cy="13918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A0E7ED-4C97-4F3A-9060-173A74893144}">
      <dsp:nvSpPr>
        <dsp:cNvPr id="0" name=""/>
        <dsp:cNvSpPr/>
      </dsp:nvSpPr>
      <dsp:spPr>
        <a:xfrm>
          <a:off x="246618" y="3134887"/>
          <a:ext cx="2191937" cy="13918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Disclosure</a:t>
          </a:r>
        </a:p>
      </dsp:txBody>
      <dsp:txXfrm>
        <a:off x="287385" y="3175654"/>
        <a:ext cx="2110403" cy="1310346"/>
      </dsp:txXfrm>
    </dsp:sp>
    <dsp:sp modelId="{B8D777F9-4E0B-491A-9A82-2EFC8619C803}">
      <dsp:nvSpPr>
        <dsp:cNvPr id="0" name=""/>
        <dsp:cNvSpPr/>
      </dsp:nvSpPr>
      <dsp:spPr>
        <a:xfrm>
          <a:off x="2724759" y="2895805"/>
          <a:ext cx="2191937" cy="13918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613A9D-7624-4C7E-B5D4-5A05EE4A1349}">
      <dsp:nvSpPr>
        <dsp:cNvPr id="0" name=""/>
        <dsp:cNvSpPr/>
      </dsp:nvSpPr>
      <dsp:spPr>
        <a:xfrm>
          <a:off x="2968307" y="3127176"/>
          <a:ext cx="2191937" cy="13918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Deception</a:t>
          </a:r>
        </a:p>
      </dsp:txBody>
      <dsp:txXfrm>
        <a:off x="3009074" y="3167943"/>
        <a:ext cx="2110403" cy="1310346"/>
      </dsp:txXfrm>
    </dsp:sp>
    <dsp:sp modelId="{D765A187-4BDC-459E-9C37-7D70BD8F3C23}">
      <dsp:nvSpPr>
        <dsp:cNvPr id="0" name=""/>
        <dsp:cNvSpPr/>
      </dsp:nvSpPr>
      <dsp:spPr>
        <a:xfrm>
          <a:off x="5361138" y="2903516"/>
          <a:ext cx="2191937" cy="13918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65CC85-65B6-4AB0-AFCE-AC6C6A6A97B5}">
      <dsp:nvSpPr>
        <dsp:cNvPr id="0" name=""/>
        <dsp:cNvSpPr/>
      </dsp:nvSpPr>
      <dsp:spPr>
        <a:xfrm>
          <a:off x="5604686" y="3134887"/>
          <a:ext cx="2191937" cy="13918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Disruption</a:t>
          </a:r>
        </a:p>
      </dsp:txBody>
      <dsp:txXfrm>
        <a:off x="5645453" y="3175654"/>
        <a:ext cx="2110403" cy="1310346"/>
      </dsp:txXfrm>
    </dsp:sp>
    <dsp:sp modelId="{38B0E280-F309-431D-840A-8B1D4EEB42BA}">
      <dsp:nvSpPr>
        <dsp:cNvPr id="0" name=""/>
        <dsp:cNvSpPr/>
      </dsp:nvSpPr>
      <dsp:spPr>
        <a:xfrm>
          <a:off x="8040172" y="2903516"/>
          <a:ext cx="2191937" cy="13918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2197C0-1B97-4862-9BC1-63B4EB964731}">
      <dsp:nvSpPr>
        <dsp:cNvPr id="0" name=""/>
        <dsp:cNvSpPr/>
      </dsp:nvSpPr>
      <dsp:spPr>
        <a:xfrm>
          <a:off x="8283721" y="3134887"/>
          <a:ext cx="2191937" cy="13918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Usurpation</a:t>
          </a:r>
        </a:p>
      </dsp:txBody>
      <dsp:txXfrm>
        <a:off x="8324488" y="3175654"/>
        <a:ext cx="2110403" cy="13103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6B3EF7-B9CF-4A02-A57F-3DCC4FDE6401}">
      <dsp:nvSpPr>
        <dsp:cNvPr id="0" name=""/>
        <dsp:cNvSpPr/>
      </dsp:nvSpPr>
      <dsp:spPr>
        <a:xfrm>
          <a:off x="0" y="516162"/>
          <a:ext cx="8128000" cy="85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31B512-C567-42D8-9E45-0E17CE815261}">
      <dsp:nvSpPr>
        <dsp:cNvPr id="0" name=""/>
        <dsp:cNvSpPr/>
      </dsp:nvSpPr>
      <dsp:spPr>
        <a:xfrm>
          <a:off x="406400" y="14322"/>
          <a:ext cx="5689600" cy="10036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kern="1200" dirty="0"/>
            <a:t>PREVENTION</a:t>
          </a:r>
        </a:p>
      </dsp:txBody>
      <dsp:txXfrm>
        <a:off x="455396" y="63318"/>
        <a:ext cx="5591608" cy="905688"/>
      </dsp:txXfrm>
    </dsp:sp>
    <dsp:sp modelId="{C7F1D5A3-9FD0-4142-BEE0-6E1E13E5B915}">
      <dsp:nvSpPr>
        <dsp:cNvPr id="0" name=""/>
        <dsp:cNvSpPr/>
      </dsp:nvSpPr>
      <dsp:spPr>
        <a:xfrm>
          <a:off x="0" y="2058402"/>
          <a:ext cx="8128000" cy="85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C8F128-392C-4429-B36E-E64058067060}">
      <dsp:nvSpPr>
        <dsp:cNvPr id="0" name=""/>
        <dsp:cNvSpPr/>
      </dsp:nvSpPr>
      <dsp:spPr>
        <a:xfrm>
          <a:off x="406400" y="1556562"/>
          <a:ext cx="5689600" cy="10036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kern="1200" dirty="0"/>
            <a:t>DETECTION</a:t>
          </a:r>
        </a:p>
      </dsp:txBody>
      <dsp:txXfrm>
        <a:off x="455396" y="1605558"/>
        <a:ext cx="5591608" cy="905688"/>
      </dsp:txXfrm>
    </dsp:sp>
    <dsp:sp modelId="{24BDEDA4-2FF4-4D1E-848A-7B61D483ECC9}">
      <dsp:nvSpPr>
        <dsp:cNvPr id="0" name=""/>
        <dsp:cNvSpPr/>
      </dsp:nvSpPr>
      <dsp:spPr>
        <a:xfrm>
          <a:off x="0" y="3600642"/>
          <a:ext cx="8128000" cy="85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22B5D2-7C7A-47E0-A34E-3C1D179E21D4}">
      <dsp:nvSpPr>
        <dsp:cNvPr id="0" name=""/>
        <dsp:cNvSpPr/>
      </dsp:nvSpPr>
      <dsp:spPr>
        <a:xfrm>
          <a:off x="406400" y="3098802"/>
          <a:ext cx="5689600" cy="10036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kern="1200" dirty="0"/>
            <a:t>RECOVERY</a:t>
          </a:r>
        </a:p>
      </dsp:txBody>
      <dsp:txXfrm>
        <a:off x="455396" y="3147798"/>
        <a:ext cx="5591608" cy="9056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278842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3123" y="1"/>
            <a:ext cx="4278842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4E9342-A0CF-441D-8031-A99377EDC029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278842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3123" y="6456612"/>
            <a:ext cx="4278842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007908-FFF3-4E06-8AAB-65081BE13F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0038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278842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593123" y="1"/>
            <a:ext cx="4278842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E47E00-66FE-4AE5-B79A-D00B823C99C6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98775" y="849313"/>
            <a:ext cx="4078288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87425" y="3271381"/>
            <a:ext cx="789940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278842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593123" y="6456612"/>
            <a:ext cx="4278842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FB63D4-1D70-40BD-BDA7-41BED40817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107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DDD6-8C87-4C9D-B8B1-F905E3E845CB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84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DDD6-8C87-4C9D-B8B1-F905E3E845CB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238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DDD6-8C87-4C9D-B8B1-F905E3E845CB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837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DDD6-8C87-4C9D-B8B1-F905E3E845CB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96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DDD6-8C87-4C9D-B8B1-F905E3E845CB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096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DDD6-8C87-4C9D-B8B1-F905E3E845CB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4159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DDD6-8C87-4C9D-B8B1-F905E3E845CB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989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DDD6-8C87-4C9D-B8B1-F905E3E845CB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57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DDD6-8C87-4C9D-B8B1-F905E3E845CB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111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DDD6-8C87-4C9D-B8B1-F905E3E845CB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584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CDDD6-8C87-4C9D-B8B1-F905E3E845CB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1914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101600" y="3352801"/>
            <a:ext cx="27432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 userDrawn="1"/>
        </p:nvSpPr>
        <p:spPr>
          <a:xfrm>
            <a:off x="-101600" y="52578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>
            <a:spLocks noChangeArrowheads="1"/>
          </p:cNvSpPr>
          <p:nvPr userDrawn="1"/>
        </p:nvSpPr>
        <p:spPr bwMode="auto">
          <a:xfrm>
            <a:off x="203200" y="5667376"/>
            <a:ext cx="2540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pitchFamily="34" charset="0"/>
              </a:rPr>
              <a:t>Hyderabad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5410200"/>
            <a:ext cx="80264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28699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  <p:grpSp>
        <p:nvGrpSpPr>
          <p:cNvPr id="8" name="Group 10"/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>
            <a:spLocks noChangeArrowheads="1"/>
          </p:cNvSpPr>
          <p:nvPr userDrawn="1"/>
        </p:nvSpPr>
        <p:spPr bwMode="auto">
          <a:xfrm>
            <a:off x="4368800" y="6596064"/>
            <a:ext cx="78232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pitchFamily="34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pitchFamily="34" charset="0"/>
              </a:rPr>
              <a:t>Pilani, Hyderabad Campus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9531174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CDDD6-8C87-4C9D-B8B1-F905E3E845CB}" type="datetimeFigureOut">
              <a:rPr lang="en-US" smtClean="0"/>
              <a:pPr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BD6FF-E75D-41F8-962C-A79919DAC6B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58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581400" y="4221893"/>
            <a:ext cx="6629400" cy="930877"/>
          </a:xfrm>
        </p:spPr>
        <p:txBody>
          <a:bodyPr wrap="square" numCol="1" compatLnSpc="1">
            <a:prstTxWarp prst="textNoShape">
              <a:avLst/>
            </a:prstTxWarp>
          </a:bodyPr>
          <a:lstStyle/>
          <a:p>
            <a:pPr algn="ctr">
              <a:defRPr/>
            </a:pPr>
            <a:r>
              <a:rPr lang="en-US" sz="2800" b="1" dirty="0">
                <a:latin typeface="Baskerville Old Face" panose="02020602080505020303" pitchFamily="18" charset="0"/>
              </a:rPr>
              <a:t>SYSTEM SECURITY (CS F321)</a:t>
            </a:r>
            <a:br>
              <a:rPr lang="en-US" sz="2800" b="1" dirty="0">
                <a:latin typeface="Baskerville Old Face" panose="02020602080505020303" pitchFamily="18" charset="0"/>
              </a:rPr>
            </a:br>
            <a:r>
              <a:rPr lang="en-US" sz="2800" dirty="0">
                <a:latin typeface="Baskerville Old Face" panose="02020602080505020303" pitchFamily="18" charset="0"/>
              </a:rPr>
              <a:t>Introduction </a:t>
            </a:r>
            <a:r>
              <a:rPr lang="en-US" sz="2800">
                <a:latin typeface="Baskerville Old Face" panose="02020602080505020303" pitchFamily="18" charset="0"/>
              </a:rPr>
              <a:t>&amp; Overview </a:t>
            </a:r>
            <a:r>
              <a:rPr lang="en-US" sz="2800" dirty="0">
                <a:latin typeface="Baskerville Old Face" panose="02020602080505020303" pitchFamily="18" charset="0"/>
                <a:cs typeface="Arial" charset="0"/>
              </a:rPr>
              <a:t>	</a:t>
            </a:r>
          </a:p>
        </p:txBody>
      </p:sp>
      <p:sp>
        <p:nvSpPr>
          <p:cNvPr id="3" name="Content Placeholder 5"/>
          <p:cNvSpPr>
            <a:spLocks noGrp="1"/>
          </p:cNvSpPr>
          <p:nvPr/>
        </p:nvSpPr>
        <p:spPr>
          <a:xfrm>
            <a:off x="3687461" y="5152770"/>
            <a:ext cx="6019800" cy="5334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r" defTabSz="914400" rtl="0" eaLnBrk="1" latinLnBrk="0" hangingPunct="1">
              <a:lnSpc>
                <a:spcPts val="1800"/>
              </a:lnSpc>
              <a:spcBef>
                <a:spcPts val="0"/>
              </a:spcBef>
              <a:buFont typeface="Arial" pitchFamily="34" charset="0"/>
              <a:buNone/>
              <a:defRPr sz="1800" kern="1200" baseline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latin typeface="Book Antiqua" panose="02040602050305030304" pitchFamily="18" charset="0"/>
              </a:rPr>
              <a:t>Barsha Mitra</a:t>
            </a:r>
          </a:p>
          <a:p>
            <a:pPr algn="ctr"/>
            <a:r>
              <a:rPr lang="en-US" dirty="0">
                <a:latin typeface="Book Antiqua" panose="02040602050305030304" pitchFamily="18" charset="0"/>
              </a:rPr>
              <a:t>CSIS Dept., BITS Pilani, Hyderabad Campus</a:t>
            </a:r>
          </a:p>
        </p:txBody>
      </p:sp>
    </p:spTree>
    <p:extLst>
      <p:ext uri="{BB962C8B-B14F-4D97-AF65-F5344CB8AC3E}">
        <p14:creationId xmlns:p14="http://schemas.microsoft.com/office/powerpoint/2010/main" val="42003754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286000" y="1676401"/>
            <a:ext cx="609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" name="Rectangle 1"/>
          <p:cNvSpPr/>
          <p:nvPr/>
        </p:nvSpPr>
        <p:spPr>
          <a:xfrm>
            <a:off x="599939" y="1354496"/>
            <a:ext cx="1067623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Overview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Access Control Matrix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Security Policies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Confidentiality Policy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Integrity Policies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Hybrid Policies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Authentication &amp; Authorization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RBAC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Role Mining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TRBAC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ABAC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Principles of Secure System Design</a:t>
            </a:r>
          </a:p>
        </p:txBody>
      </p:sp>
      <p:sp>
        <p:nvSpPr>
          <p:cNvPr id="14340" name="TextBox 2"/>
          <p:cNvSpPr txBox="1">
            <a:spLocks noChangeArrowheads="1"/>
          </p:cNvSpPr>
          <p:nvPr/>
        </p:nvSpPr>
        <p:spPr bwMode="auto">
          <a:xfrm>
            <a:off x="1076130" y="539890"/>
            <a:ext cx="730587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0000FF"/>
                </a:solidFill>
              </a:rPr>
              <a:t>Course Content</a:t>
            </a:r>
          </a:p>
        </p:txBody>
      </p:sp>
    </p:spTree>
    <p:extLst>
      <p:ext uri="{BB962C8B-B14F-4D97-AF65-F5344CB8AC3E}">
        <p14:creationId xmlns:p14="http://schemas.microsoft.com/office/powerpoint/2010/main" val="5801931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286000" y="1676401"/>
            <a:ext cx="609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" name="Rectangle 1"/>
          <p:cNvSpPr/>
          <p:nvPr/>
        </p:nvSpPr>
        <p:spPr>
          <a:xfrm>
            <a:off x="599939" y="1354496"/>
            <a:ext cx="1067623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Assurance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Security Evaluation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Database Security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Malwares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Buffer Overflow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Program Security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Cyber Threats and Vulnerabilities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Security Management and Audit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/>
              <a:t>Linux and Windows Security</a:t>
            </a:r>
          </a:p>
        </p:txBody>
      </p:sp>
      <p:sp>
        <p:nvSpPr>
          <p:cNvPr id="14340" name="TextBox 2"/>
          <p:cNvSpPr txBox="1">
            <a:spLocks noChangeArrowheads="1"/>
          </p:cNvSpPr>
          <p:nvPr/>
        </p:nvSpPr>
        <p:spPr bwMode="auto">
          <a:xfrm>
            <a:off x="1076130" y="539890"/>
            <a:ext cx="730587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0000FF"/>
                </a:solidFill>
              </a:rPr>
              <a:t>Course Content</a:t>
            </a:r>
          </a:p>
        </p:txBody>
      </p:sp>
    </p:spTree>
    <p:extLst>
      <p:ext uri="{BB962C8B-B14F-4D97-AF65-F5344CB8AC3E}">
        <p14:creationId xmlns:p14="http://schemas.microsoft.com/office/powerpoint/2010/main" val="34571949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286000" y="1676401"/>
            <a:ext cx="609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" name="Rectangle 1"/>
          <p:cNvSpPr/>
          <p:nvPr/>
        </p:nvSpPr>
        <p:spPr>
          <a:xfrm>
            <a:off x="231820" y="1341224"/>
            <a:ext cx="1179704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u="sng" dirty="0"/>
              <a:t>Text Book:</a:t>
            </a:r>
            <a:endParaRPr lang="en-US" sz="2800" dirty="0"/>
          </a:p>
          <a:p>
            <a:r>
              <a:rPr lang="en-US" sz="2800" b="1" dirty="0">
                <a:solidFill>
                  <a:srgbClr val="FF0000"/>
                </a:solidFill>
              </a:rPr>
              <a:t> T1.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Matt Bishop (&amp; </a:t>
            </a:r>
            <a:r>
              <a:rPr lang="en-US" sz="2800" dirty="0" err="1"/>
              <a:t>Sathyanarayana</a:t>
            </a:r>
            <a:r>
              <a:rPr lang="en-US" sz="2800" dirty="0"/>
              <a:t> S. </a:t>
            </a:r>
            <a:r>
              <a:rPr lang="en-US" sz="2800" dirty="0" err="1"/>
              <a:t>Venkatramanayya</a:t>
            </a:r>
            <a:r>
              <a:rPr lang="en-US" sz="2800" dirty="0"/>
              <a:t>), “Introduction to Computer Security”, 1st Edition, Pearson, Indian Subcontinent Adaptation, 2016. </a:t>
            </a:r>
          </a:p>
          <a:p>
            <a:endParaRPr lang="en-US" sz="2800" b="1" u="sng" dirty="0"/>
          </a:p>
          <a:p>
            <a:r>
              <a:rPr lang="en-US" sz="2800" b="1" u="sng" dirty="0"/>
              <a:t>Reference Books:</a:t>
            </a:r>
            <a:endParaRPr lang="en-US" sz="2800" dirty="0"/>
          </a:p>
          <a:p>
            <a:r>
              <a:rPr lang="en-US" sz="2800" b="1" dirty="0">
                <a:solidFill>
                  <a:srgbClr val="FF0000"/>
                </a:solidFill>
              </a:rPr>
              <a:t>R1. </a:t>
            </a:r>
            <a:r>
              <a:rPr lang="en-US" sz="2800" dirty="0"/>
              <a:t>William Stallings and Lawrie Brown, “Computer Security: Principles and Practice”, 4th Edition, Pearson, 2020.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R2. </a:t>
            </a:r>
            <a:r>
              <a:rPr lang="en-US" sz="2800" dirty="0"/>
              <a:t>Dieter </a:t>
            </a:r>
            <a:r>
              <a:rPr lang="en-US" sz="2800" dirty="0" err="1"/>
              <a:t>Gollmann</a:t>
            </a:r>
            <a:r>
              <a:rPr lang="en-US" sz="2800" dirty="0"/>
              <a:t>, “Computer Security”, 3rd Edition, Wiley, 2016.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R3. </a:t>
            </a:r>
            <a:r>
              <a:rPr lang="en-US" sz="2800" dirty="0"/>
              <a:t>Matt Bishop, “Computer Security: Art and Science”, 2nd Edition, Addison-Wesley, 2019.</a:t>
            </a:r>
          </a:p>
        </p:txBody>
      </p:sp>
      <p:sp>
        <p:nvSpPr>
          <p:cNvPr id="14340" name="TextBox 2"/>
          <p:cNvSpPr txBox="1">
            <a:spLocks noChangeArrowheads="1"/>
          </p:cNvSpPr>
          <p:nvPr/>
        </p:nvSpPr>
        <p:spPr bwMode="auto">
          <a:xfrm>
            <a:off x="1076130" y="539890"/>
            <a:ext cx="730587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0000FF"/>
                </a:solidFill>
              </a:rPr>
              <a:t>Text &amp; Reference Books</a:t>
            </a:r>
          </a:p>
        </p:txBody>
      </p:sp>
    </p:spTree>
    <p:extLst>
      <p:ext uri="{BB962C8B-B14F-4D97-AF65-F5344CB8AC3E}">
        <p14:creationId xmlns:p14="http://schemas.microsoft.com/office/powerpoint/2010/main" val="421752447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TextBox 2"/>
          <p:cNvSpPr txBox="1">
            <a:spLocks noChangeArrowheads="1"/>
          </p:cNvSpPr>
          <p:nvPr/>
        </p:nvSpPr>
        <p:spPr bwMode="auto">
          <a:xfrm>
            <a:off x="4430484" y="196349"/>
            <a:ext cx="3712030" cy="93268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>
            <a:norm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5400" b="1" kern="1200">
                <a:solidFill>
                  <a:srgbClr val="0000FF"/>
                </a:solidFill>
                <a:latin typeface="+mj-lt"/>
                <a:ea typeface="+mj-ea"/>
                <a:cs typeface="+mj-cs"/>
              </a:rPr>
              <a:t>Evaluation</a:t>
            </a:r>
            <a:endParaRPr lang="en-US" altLang="en-US" sz="5400" b="1" kern="1200" dirty="0">
              <a:solidFill>
                <a:srgbClr val="0000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286000" y="-1284513"/>
            <a:ext cx="609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B4F523-B983-CDB8-BF64-7AAA8887AE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722236"/>
              </p:ext>
            </p:extLst>
          </p:nvPr>
        </p:nvGraphicFramePr>
        <p:xfrm>
          <a:off x="1467628" y="1545688"/>
          <a:ext cx="9556792" cy="3779520"/>
        </p:xfrm>
        <a:graphic>
          <a:graphicData uri="http://schemas.openxmlformats.org/drawingml/2006/table">
            <a:tbl>
              <a:tblPr firstRow="1">
                <a:tableStyleId>{5A111915-BE36-4E01-A7E5-04B1672EAD32}</a:tableStyleId>
              </a:tblPr>
              <a:tblGrid>
                <a:gridCol w="1939249">
                  <a:extLst>
                    <a:ext uri="{9D8B030D-6E8A-4147-A177-3AD203B41FA5}">
                      <a16:colId xmlns:a16="http://schemas.microsoft.com/office/drawing/2014/main" val="3218940264"/>
                    </a:ext>
                  </a:extLst>
                </a:gridCol>
                <a:gridCol w="1327355">
                  <a:extLst>
                    <a:ext uri="{9D8B030D-6E8A-4147-A177-3AD203B41FA5}">
                      <a16:colId xmlns:a16="http://schemas.microsoft.com/office/drawing/2014/main" val="434548652"/>
                    </a:ext>
                  </a:extLst>
                </a:gridCol>
                <a:gridCol w="2198129">
                  <a:extLst>
                    <a:ext uri="{9D8B030D-6E8A-4147-A177-3AD203B41FA5}">
                      <a16:colId xmlns:a16="http://schemas.microsoft.com/office/drawing/2014/main" val="2077919110"/>
                    </a:ext>
                  </a:extLst>
                </a:gridCol>
                <a:gridCol w="1791899">
                  <a:extLst>
                    <a:ext uri="{9D8B030D-6E8A-4147-A177-3AD203B41FA5}">
                      <a16:colId xmlns:a16="http://schemas.microsoft.com/office/drawing/2014/main" val="1024356919"/>
                    </a:ext>
                  </a:extLst>
                </a:gridCol>
                <a:gridCol w="2300160">
                  <a:extLst>
                    <a:ext uri="{9D8B030D-6E8A-4147-A177-3AD203B41FA5}">
                      <a16:colId xmlns:a16="http://schemas.microsoft.com/office/drawing/2014/main" val="3610899591"/>
                    </a:ext>
                  </a:extLst>
                </a:gridCol>
              </a:tblGrid>
              <a:tr h="6794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Component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405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Duration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405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Weightage (%)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405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Date &amp; Time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405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Nature of Component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405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4984496"/>
                  </a:ext>
                </a:extLst>
              </a:tr>
              <a:tr h="6921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Mid Semester Examination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405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90 minutes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405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25%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405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As per Timetable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405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Closed Book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405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3393111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Quiz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 (1 no.)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405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-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405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10%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405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TBA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405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Closed Book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405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9320934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Assignments 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(2 nos.)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405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-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405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25%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405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TBA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405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Open Book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405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0115097"/>
                  </a:ext>
                </a:extLst>
              </a:tr>
              <a:tr h="6921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Comprehensive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Examination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405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180 minutes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405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40%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405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As per Timetable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405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Closed Book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5405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335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67035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286000" y="1676401"/>
            <a:ext cx="609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>
              <a:solidFill>
                <a:srgbClr val="0000FF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36822" y="2245569"/>
            <a:ext cx="9002443" cy="26108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Chamber Consultation – Mondays 10 am to 10:50 am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Notices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Make-up Policy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Academic Honesty and Integrity Policy</a:t>
            </a:r>
          </a:p>
        </p:txBody>
      </p:sp>
      <p:sp>
        <p:nvSpPr>
          <p:cNvPr id="14340" name="TextBox 2"/>
          <p:cNvSpPr txBox="1">
            <a:spLocks noChangeArrowheads="1"/>
          </p:cNvSpPr>
          <p:nvPr/>
        </p:nvSpPr>
        <p:spPr bwMode="auto">
          <a:xfrm>
            <a:off x="2133600" y="379365"/>
            <a:ext cx="533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0000FF"/>
                </a:solidFill>
              </a:rPr>
              <a:t>Handout Overview</a:t>
            </a:r>
          </a:p>
        </p:txBody>
      </p:sp>
    </p:spTree>
    <p:extLst>
      <p:ext uri="{BB962C8B-B14F-4D97-AF65-F5344CB8AC3E}">
        <p14:creationId xmlns:p14="http://schemas.microsoft.com/office/powerpoint/2010/main" val="354252824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286000" y="1676401"/>
            <a:ext cx="609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>
              <a:solidFill>
                <a:srgbClr val="0000FF"/>
              </a:solidFill>
            </a:endParaRPr>
          </a:p>
        </p:txBody>
      </p:sp>
      <p:sp>
        <p:nvSpPr>
          <p:cNvPr id="14340" name="TextBox 2"/>
          <p:cNvSpPr txBox="1">
            <a:spLocks noChangeArrowheads="1"/>
          </p:cNvSpPr>
          <p:nvPr/>
        </p:nvSpPr>
        <p:spPr bwMode="auto">
          <a:xfrm>
            <a:off x="2133600" y="379365"/>
            <a:ext cx="533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0000FF"/>
                </a:solidFill>
              </a:rPr>
              <a:t>CIA Triad</a:t>
            </a:r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id="{5EA4C6DB-C95F-EEC3-BCDD-3FFF675979F6}"/>
              </a:ext>
            </a:extLst>
          </p:cNvPr>
          <p:cNvSpPr/>
          <p:nvPr/>
        </p:nvSpPr>
        <p:spPr>
          <a:xfrm>
            <a:off x="6745338" y="2017669"/>
            <a:ext cx="3668661" cy="1238865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ACCESS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CRYPTOGRAPHY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RESOURCE HIDING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48B0E11-2DC7-6D4C-B30D-64B755285B1E}"/>
              </a:ext>
            </a:extLst>
          </p:cNvPr>
          <p:cNvGrpSpPr/>
          <p:nvPr/>
        </p:nvGrpSpPr>
        <p:grpSpPr>
          <a:xfrm>
            <a:off x="-239251" y="1563329"/>
            <a:ext cx="8128000" cy="4818352"/>
            <a:chOff x="2032000" y="1319981"/>
            <a:chExt cx="8128000" cy="4818352"/>
          </a:xfrm>
        </p:grpSpPr>
        <p:graphicFrame>
          <p:nvGraphicFramePr>
            <p:cNvPr id="10" name="Diagram 9">
              <a:extLst>
                <a:ext uri="{FF2B5EF4-FFF2-40B4-BE49-F238E27FC236}">
                  <a16:creationId xmlns:a16="http://schemas.microsoft.com/office/drawing/2014/main" id="{231B33E0-934E-ED10-E58F-C23264266AE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36281980"/>
                </p:ext>
              </p:extLst>
            </p:nvPr>
          </p:nvGraphicFramePr>
          <p:xfrm>
            <a:off x="2032000" y="1319981"/>
            <a:ext cx="8128000" cy="481835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1282DE4-0A64-08AC-57D1-264C8C431BB8}"/>
                </a:ext>
              </a:extLst>
            </p:cNvPr>
            <p:cNvSpPr txBox="1"/>
            <p:nvPr/>
          </p:nvSpPr>
          <p:spPr>
            <a:xfrm rot="16200000" flipH="1">
              <a:off x="4284139" y="3924784"/>
              <a:ext cx="177096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SECURITY</a:t>
              </a:r>
            </a:p>
          </p:txBody>
        </p:sp>
      </p:grpSp>
      <p:sp>
        <p:nvSpPr>
          <p:cNvPr id="13" name="Cloud 12">
            <a:extLst>
              <a:ext uri="{FF2B5EF4-FFF2-40B4-BE49-F238E27FC236}">
                <a16:creationId xmlns:a16="http://schemas.microsoft.com/office/drawing/2014/main" id="{2585324B-6CA6-9AA9-6518-D9DCE40FE004}"/>
              </a:ext>
            </a:extLst>
          </p:cNvPr>
          <p:cNvSpPr/>
          <p:nvPr/>
        </p:nvSpPr>
        <p:spPr>
          <a:xfrm>
            <a:off x="6846118" y="3353072"/>
            <a:ext cx="3668661" cy="1238865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PREVENTION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DETECTION</a:t>
            </a:r>
          </a:p>
        </p:txBody>
      </p:sp>
      <p:sp>
        <p:nvSpPr>
          <p:cNvPr id="15" name="Cloud 14">
            <a:extLst>
              <a:ext uri="{FF2B5EF4-FFF2-40B4-BE49-F238E27FC236}">
                <a16:creationId xmlns:a16="http://schemas.microsoft.com/office/drawing/2014/main" id="{413F7D52-8368-A716-B27F-B23E2F79BAD6}"/>
              </a:ext>
            </a:extLst>
          </p:cNvPr>
          <p:cNvSpPr/>
          <p:nvPr/>
        </p:nvSpPr>
        <p:spPr>
          <a:xfrm>
            <a:off x="6969021" y="4688475"/>
            <a:ext cx="3668661" cy="1238865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PREVENTION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DETECTION</a:t>
            </a:r>
          </a:p>
        </p:txBody>
      </p:sp>
    </p:spTree>
    <p:extLst>
      <p:ext uri="{BB962C8B-B14F-4D97-AF65-F5344CB8AC3E}">
        <p14:creationId xmlns:p14="http://schemas.microsoft.com/office/powerpoint/2010/main" val="23403361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286000" y="1676401"/>
            <a:ext cx="609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>
              <a:solidFill>
                <a:srgbClr val="0000FF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24783" y="1859757"/>
            <a:ext cx="9002443" cy="26108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Potential violation of security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Attacks – actions that violate security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Attackers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800" dirty="0"/>
          </a:p>
        </p:txBody>
      </p:sp>
      <p:sp>
        <p:nvSpPr>
          <p:cNvPr id="14340" name="TextBox 2"/>
          <p:cNvSpPr txBox="1">
            <a:spLocks noChangeArrowheads="1"/>
          </p:cNvSpPr>
          <p:nvPr/>
        </p:nvSpPr>
        <p:spPr bwMode="auto">
          <a:xfrm>
            <a:off x="2133600" y="379365"/>
            <a:ext cx="533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0000FF"/>
                </a:solidFill>
              </a:rPr>
              <a:t>	Threats</a:t>
            </a:r>
          </a:p>
        </p:txBody>
      </p:sp>
    </p:spTree>
    <p:extLst>
      <p:ext uri="{BB962C8B-B14F-4D97-AF65-F5344CB8AC3E}">
        <p14:creationId xmlns:p14="http://schemas.microsoft.com/office/powerpoint/2010/main" val="37486285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286000" y="1676401"/>
            <a:ext cx="609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>
              <a:solidFill>
                <a:srgbClr val="0000FF"/>
              </a:solidFill>
            </a:endParaRPr>
          </a:p>
        </p:txBody>
      </p:sp>
      <p:sp>
        <p:nvSpPr>
          <p:cNvPr id="14340" name="TextBox 2"/>
          <p:cNvSpPr txBox="1">
            <a:spLocks noChangeArrowheads="1"/>
          </p:cNvSpPr>
          <p:nvPr/>
        </p:nvSpPr>
        <p:spPr bwMode="auto">
          <a:xfrm>
            <a:off x="2133600" y="379365"/>
            <a:ext cx="533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0000FF"/>
                </a:solidFill>
              </a:rPr>
              <a:t>	Threats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3FDDD6D-23E8-3401-D552-CD7866823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7655802"/>
              </p:ext>
            </p:extLst>
          </p:nvPr>
        </p:nvGraphicFramePr>
        <p:xfrm>
          <a:off x="796414" y="992511"/>
          <a:ext cx="10478728" cy="54009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504322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286000" y="1676401"/>
            <a:ext cx="609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>
              <a:solidFill>
                <a:srgbClr val="0000FF"/>
              </a:solidFill>
            </a:endParaRPr>
          </a:p>
        </p:txBody>
      </p:sp>
      <p:sp>
        <p:nvSpPr>
          <p:cNvPr id="14340" name="TextBox 2"/>
          <p:cNvSpPr txBox="1">
            <a:spLocks noChangeArrowheads="1"/>
          </p:cNvSpPr>
          <p:nvPr/>
        </p:nvSpPr>
        <p:spPr bwMode="auto">
          <a:xfrm>
            <a:off x="2133600" y="379365"/>
            <a:ext cx="533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0000FF"/>
                </a:solidFill>
              </a:rPr>
              <a:t>	Threats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BBE1F7F-960F-7161-1CD2-273F8F25DE4A}"/>
              </a:ext>
            </a:extLst>
          </p:cNvPr>
          <p:cNvSpPr/>
          <p:nvPr/>
        </p:nvSpPr>
        <p:spPr>
          <a:xfrm>
            <a:off x="4958079" y="1542293"/>
            <a:ext cx="5201920" cy="385660"/>
          </a:xfrm>
          <a:custGeom>
            <a:avLst/>
            <a:gdLst>
              <a:gd name="connsiteX0" fmla="*/ 64278 w 385660"/>
              <a:gd name="connsiteY0" fmla="*/ 0 h 5201920"/>
              <a:gd name="connsiteX1" fmla="*/ 321382 w 385660"/>
              <a:gd name="connsiteY1" fmla="*/ 0 h 5201920"/>
              <a:gd name="connsiteX2" fmla="*/ 385660 w 385660"/>
              <a:gd name="connsiteY2" fmla="*/ 64278 h 5201920"/>
              <a:gd name="connsiteX3" fmla="*/ 385660 w 385660"/>
              <a:gd name="connsiteY3" fmla="*/ 5201920 h 5201920"/>
              <a:gd name="connsiteX4" fmla="*/ 385660 w 385660"/>
              <a:gd name="connsiteY4" fmla="*/ 5201920 h 5201920"/>
              <a:gd name="connsiteX5" fmla="*/ 0 w 385660"/>
              <a:gd name="connsiteY5" fmla="*/ 5201920 h 5201920"/>
              <a:gd name="connsiteX6" fmla="*/ 0 w 385660"/>
              <a:gd name="connsiteY6" fmla="*/ 5201920 h 5201920"/>
              <a:gd name="connsiteX7" fmla="*/ 0 w 385660"/>
              <a:gd name="connsiteY7" fmla="*/ 64278 h 5201920"/>
              <a:gd name="connsiteX8" fmla="*/ 64278 w 385660"/>
              <a:gd name="connsiteY8" fmla="*/ 0 h 5201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5660" h="5201920">
                <a:moveTo>
                  <a:pt x="385660" y="867009"/>
                </a:moveTo>
                <a:lnTo>
                  <a:pt x="385660" y="4334911"/>
                </a:lnTo>
                <a:cubicBezTo>
                  <a:pt x="385660" y="4813746"/>
                  <a:pt x="383526" y="5201913"/>
                  <a:pt x="380895" y="5201913"/>
                </a:cubicBezTo>
                <a:lnTo>
                  <a:pt x="0" y="5201913"/>
                </a:lnTo>
                <a:lnTo>
                  <a:pt x="0" y="5201913"/>
                </a:lnTo>
                <a:lnTo>
                  <a:pt x="0" y="7"/>
                </a:lnTo>
                <a:lnTo>
                  <a:pt x="0" y="7"/>
                </a:lnTo>
                <a:lnTo>
                  <a:pt x="380895" y="7"/>
                </a:lnTo>
                <a:cubicBezTo>
                  <a:pt x="383526" y="7"/>
                  <a:pt x="385660" y="388174"/>
                  <a:pt x="385660" y="867009"/>
                </a:cubicBez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0" tIns="56926" rIns="95026" bIns="56926" numCol="1" spcCol="1270" anchor="ctr" anchorCtr="0">
            <a:noAutofit/>
          </a:bodyPr>
          <a:lstStyle/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2000" kern="1200" dirty="0"/>
              <a:t>Disclosure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4F67D33-4299-1923-CEF8-9D80348ACFB9}"/>
              </a:ext>
            </a:extLst>
          </p:cNvPr>
          <p:cNvSpPr/>
          <p:nvPr/>
        </p:nvSpPr>
        <p:spPr>
          <a:xfrm>
            <a:off x="2032000" y="1417376"/>
            <a:ext cx="2926080" cy="667478"/>
          </a:xfrm>
          <a:custGeom>
            <a:avLst/>
            <a:gdLst>
              <a:gd name="connsiteX0" fmla="*/ 0 w 2926080"/>
              <a:gd name="connsiteY0" fmla="*/ 111249 h 667478"/>
              <a:gd name="connsiteX1" fmla="*/ 111249 w 2926080"/>
              <a:gd name="connsiteY1" fmla="*/ 0 h 667478"/>
              <a:gd name="connsiteX2" fmla="*/ 2814831 w 2926080"/>
              <a:gd name="connsiteY2" fmla="*/ 0 h 667478"/>
              <a:gd name="connsiteX3" fmla="*/ 2926080 w 2926080"/>
              <a:gd name="connsiteY3" fmla="*/ 111249 h 667478"/>
              <a:gd name="connsiteX4" fmla="*/ 2926080 w 2926080"/>
              <a:gd name="connsiteY4" fmla="*/ 556229 h 667478"/>
              <a:gd name="connsiteX5" fmla="*/ 2814831 w 2926080"/>
              <a:gd name="connsiteY5" fmla="*/ 667478 h 667478"/>
              <a:gd name="connsiteX6" fmla="*/ 111249 w 2926080"/>
              <a:gd name="connsiteY6" fmla="*/ 667478 h 667478"/>
              <a:gd name="connsiteX7" fmla="*/ 0 w 2926080"/>
              <a:gd name="connsiteY7" fmla="*/ 556229 h 667478"/>
              <a:gd name="connsiteX8" fmla="*/ 0 w 2926080"/>
              <a:gd name="connsiteY8" fmla="*/ 111249 h 667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26080" h="667478">
                <a:moveTo>
                  <a:pt x="0" y="111249"/>
                </a:moveTo>
                <a:cubicBezTo>
                  <a:pt x="0" y="49808"/>
                  <a:pt x="49808" y="0"/>
                  <a:pt x="111249" y="0"/>
                </a:cubicBezTo>
                <a:lnTo>
                  <a:pt x="2814831" y="0"/>
                </a:lnTo>
                <a:cubicBezTo>
                  <a:pt x="2876272" y="0"/>
                  <a:pt x="2926080" y="49808"/>
                  <a:pt x="2926080" y="111249"/>
                </a:cubicBezTo>
                <a:lnTo>
                  <a:pt x="2926080" y="556229"/>
                </a:lnTo>
                <a:cubicBezTo>
                  <a:pt x="2926080" y="617670"/>
                  <a:pt x="2876272" y="667478"/>
                  <a:pt x="2814831" y="667478"/>
                </a:cubicBezTo>
                <a:lnTo>
                  <a:pt x="111249" y="667478"/>
                </a:lnTo>
                <a:cubicBezTo>
                  <a:pt x="49808" y="667478"/>
                  <a:pt x="0" y="617670"/>
                  <a:pt x="0" y="556229"/>
                </a:cubicBezTo>
                <a:lnTo>
                  <a:pt x="0" y="111249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5454" tIns="84019" rIns="135454" bIns="84019" numCol="1" spcCol="1270" anchor="ctr" anchorCtr="0">
            <a:noAutofit/>
          </a:bodyPr>
          <a:lstStyle/>
          <a:p>
            <a:pPr marL="0" lvl="0" indent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700" kern="1200" dirty="0"/>
              <a:t>Snooping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69412C8-F5AA-9BBA-3F64-79E80B542C4E}"/>
              </a:ext>
            </a:extLst>
          </p:cNvPr>
          <p:cNvSpPr/>
          <p:nvPr/>
        </p:nvSpPr>
        <p:spPr>
          <a:xfrm>
            <a:off x="4952368" y="2336669"/>
            <a:ext cx="5191764" cy="1093568"/>
          </a:xfrm>
          <a:custGeom>
            <a:avLst/>
            <a:gdLst>
              <a:gd name="connsiteX0" fmla="*/ 182265 w 1093568"/>
              <a:gd name="connsiteY0" fmla="*/ 0 h 5191764"/>
              <a:gd name="connsiteX1" fmla="*/ 911303 w 1093568"/>
              <a:gd name="connsiteY1" fmla="*/ 0 h 5191764"/>
              <a:gd name="connsiteX2" fmla="*/ 1093568 w 1093568"/>
              <a:gd name="connsiteY2" fmla="*/ 182265 h 5191764"/>
              <a:gd name="connsiteX3" fmla="*/ 1093568 w 1093568"/>
              <a:gd name="connsiteY3" fmla="*/ 5191764 h 5191764"/>
              <a:gd name="connsiteX4" fmla="*/ 1093568 w 1093568"/>
              <a:gd name="connsiteY4" fmla="*/ 5191764 h 5191764"/>
              <a:gd name="connsiteX5" fmla="*/ 0 w 1093568"/>
              <a:gd name="connsiteY5" fmla="*/ 5191764 h 5191764"/>
              <a:gd name="connsiteX6" fmla="*/ 0 w 1093568"/>
              <a:gd name="connsiteY6" fmla="*/ 5191764 h 5191764"/>
              <a:gd name="connsiteX7" fmla="*/ 0 w 1093568"/>
              <a:gd name="connsiteY7" fmla="*/ 182265 h 5191764"/>
              <a:gd name="connsiteX8" fmla="*/ 182265 w 1093568"/>
              <a:gd name="connsiteY8" fmla="*/ 0 h 5191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93568" h="5191764">
                <a:moveTo>
                  <a:pt x="1093568" y="865311"/>
                </a:moveTo>
                <a:lnTo>
                  <a:pt x="1093568" y="4326453"/>
                </a:lnTo>
                <a:cubicBezTo>
                  <a:pt x="1093568" y="4804350"/>
                  <a:pt x="1076380" y="5191764"/>
                  <a:pt x="1055177" y="5191764"/>
                </a:cubicBezTo>
                <a:lnTo>
                  <a:pt x="0" y="5191764"/>
                </a:lnTo>
                <a:lnTo>
                  <a:pt x="0" y="5191764"/>
                </a:lnTo>
                <a:lnTo>
                  <a:pt x="0" y="0"/>
                </a:lnTo>
                <a:lnTo>
                  <a:pt x="0" y="0"/>
                </a:lnTo>
                <a:lnTo>
                  <a:pt x="1055177" y="0"/>
                </a:lnTo>
                <a:cubicBezTo>
                  <a:pt x="1076380" y="0"/>
                  <a:pt x="1093568" y="387414"/>
                  <a:pt x="1093568" y="865311"/>
                </a:cubicBez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0" tIns="91484" rIns="129584" bIns="91484" numCol="1" spcCol="1270" anchor="ctr" anchorCtr="0">
            <a:noAutofit/>
          </a:bodyPr>
          <a:lstStyle/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2000" kern="1200" dirty="0"/>
              <a:t>Deception</a:t>
            </a:r>
          </a:p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2000" kern="1200" dirty="0"/>
              <a:t>Disruption</a:t>
            </a:r>
          </a:p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2000" kern="1200" dirty="0"/>
              <a:t>Usurpation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9CA5209-72F8-93FE-6C07-D0A7AC50A14B}"/>
              </a:ext>
            </a:extLst>
          </p:cNvPr>
          <p:cNvSpPr/>
          <p:nvPr/>
        </p:nvSpPr>
        <p:spPr>
          <a:xfrm>
            <a:off x="2032000" y="2134046"/>
            <a:ext cx="2920367" cy="1498813"/>
          </a:xfrm>
          <a:custGeom>
            <a:avLst/>
            <a:gdLst>
              <a:gd name="connsiteX0" fmla="*/ 0 w 2920367"/>
              <a:gd name="connsiteY0" fmla="*/ 249807 h 1498813"/>
              <a:gd name="connsiteX1" fmla="*/ 249807 w 2920367"/>
              <a:gd name="connsiteY1" fmla="*/ 0 h 1498813"/>
              <a:gd name="connsiteX2" fmla="*/ 2670560 w 2920367"/>
              <a:gd name="connsiteY2" fmla="*/ 0 h 1498813"/>
              <a:gd name="connsiteX3" fmla="*/ 2920367 w 2920367"/>
              <a:gd name="connsiteY3" fmla="*/ 249807 h 1498813"/>
              <a:gd name="connsiteX4" fmla="*/ 2920367 w 2920367"/>
              <a:gd name="connsiteY4" fmla="*/ 1249006 h 1498813"/>
              <a:gd name="connsiteX5" fmla="*/ 2670560 w 2920367"/>
              <a:gd name="connsiteY5" fmla="*/ 1498813 h 1498813"/>
              <a:gd name="connsiteX6" fmla="*/ 249807 w 2920367"/>
              <a:gd name="connsiteY6" fmla="*/ 1498813 h 1498813"/>
              <a:gd name="connsiteX7" fmla="*/ 0 w 2920367"/>
              <a:gd name="connsiteY7" fmla="*/ 1249006 h 1498813"/>
              <a:gd name="connsiteX8" fmla="*/ 0 w 2920367"/>
              <a:gd name="connsiteY8" fmla="*/ 249807 h 1498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20367" h="1498813">
                <a:moveTo>
                  <a:pt x="0" y="249807"/>
                </a:moveTo>
                <a:cubicBezTo>
                  <a:pt x="0" y="111842"/>
                  <a:pt x="111842" y="0"/>
                  <a:pt x="249807" y="0"/>
                </a:cubicBezTo>
                <a:lnTo>
                  <a:pt x="2670560" y="0"/>
                </a:lnTo>
                <a:cubicBezTo>
                  <a:pt x="2808525" y="0"/>
                  <a:pt x="2920367" y="111842"/>
                  <a:pt x="2920367" y="249807"/>
                </a:cubicBezTo>
                <a:lnTo>
                  <a:pt x="2920367" y="1249006"/>
                </a:lnTo>
                <a:cubicBezTo>
                  <a:pt x="2920367" y="1386971"/>
                  <a:pt x="2808525" y="1498813"/>
                  <a:pt x="2670560" y="1498813"/>
                </a:cubicBezTo>
                <a:lnTo>
                  <a:pt x="249807" y="1498813"/>
                </a:lnTo>
                <a:cubicBezTo>
                  <a:pt x="111842" y="1498813"/>
                  <a:pt x="0" y="1386971"/>
                  <a:pt x="0" y="1249006"/>
                </a:cubicBezTo>
                <a:lnTo>
                  <a:pt x="0" y="249807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6036" tIns="124601" rIns="176036" bIns="124601" numCol="1" spcCol="1270" anchor="ctr" anchorCtr="0">
            <a:noAutofit/>
          </a:bodyPr>
          <a:lstStyle/>
          <a:p>
            <a:pPr marL="0" lvl="0" indent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700" kern="1200" dirty="0"/>
              <a:t>Modification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C41B564-122B-45A0-28A7-C26CE598F188}"/>
              </a:ext>
            </a:extLst>
          </p:cNvPr>
          <p:cNvSpPr/>
          <p:nvPr/>
        </p:nvSpPr>
        <p:spPr>
          <a:xfrm>
            <a:off x="4958079" y="3780434"/>
            <a:ext cx="5201920" cy="787062"/>
          </a:xfrm>
          <a:custGeom>
            <a:avLst/>
            <a:gdLst>
              <a:gd name="connsiteX0" fmla="*/ 131180 w 787062"/>
              <a:gd name="connsiteY0" fmla="*/ 0 h 5201920"/>
              <a:gd name="connsiteX1" fmla="*/ 655882 w 787062"/>
              <a:gd name="connsiteY1" fmla="*/ 0 h 5201920"/>
              <a:gd name="connsiteX2" fmla="*/ 787062 w 787062"/>
              <a:gd name="connsiteY2" fmla="*/ 131180 h 5201920"/>
              <a:gd name="connsiteX3" fmla="*/ 787062 w 787062"/>
              <a:gd name="connsiteY3" fmla="*/ 5201920 h 5201920"/>
              <a:gd name="connsiteX4" fmla="*/ 787062 w 787062"/>
              <a:gd name="connsiteY4" fmla="*/ 5201920 h 5201920"/>
              <a:gd name="connsiteX5" fmla="*/ 0 w 787062"/>
              <a:gd name="connsiteY5" fmla="*/ 5201920 h 5201920"/>
              <a:gd name="connsiteX6" fmla="*/ 0 w 787062"/>
              <a:gd name="connsiteY6" fmla="*/ 5201920 h 5201920"/>
              <a:gd name="connsiteX7" fmla="*/ 0 w 787062"/>
              <a:gd name="connsiteY7" fmla="*/ 131180 h 5201920"/>
              <a:gd name="connsiteX8" fmla="*/ 131180 w 787062"/>
              <a:gd name="connsiteY8" fmla="*/ 0 h 5201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87062" h="5201920">
                <a:moveTo>
                  <a:pt x="787062" y="867009"/>
                </a:moveTo>
                <a:lnTo>
                  <a:pt x="787062" y="4334911"/>
                </a:lnTo>
                <a:cubicBezTo>
                  <a:pt x="787062" y="4813747"/>
                  <a:pt x="778176" y="5201917"/>
                  <a:pt x="767214" y="5201917"/>
                </a:cubicBezTo>
                <a:lnTo>
                  <a:pt x="0" y="5201917"/>
                </a:lnTo>
                <a:lnTo>
                  <a:pt x="0" y="5201917"/>
                </a:lnTo>
                <a:lnTo>
                  <a:pt x="0" y="3"/>
                </a:lnTo>
                <a:lnTo>
                  <a:pt x="0" y="3"/>
                </a:lnTo>
                <a:lnTo>
                  <a:pt x="767214" y="3"/>
                </a:lnTo>
                <a:cubicBezTo>
                  <a:pt x="778176" y="3"/>
                  <a:pt x="787062" y="388173"/>
                  <a:pt x="787062" y="867009"/>
                </a:cubicBez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1" tIns="76521" rIns="114620" bIns="76521" numCol="1" spcCol="1270" anchor="ctr" anchorCtr="0">
            <a:noAutofit/>
          </a:bodyPr>
          <a:lstStyle/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2000" kern="1200" dirty="0"/>
              <a:t>Deception</a:t>
            </a:r>
          </a:p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2000" kern="1200" dirty="0"/>
              <a:t>Usurpation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CDD5CC7-8EC9-0A95-FD70-8F934E7484FD}"/>
              </a:ext>
            </a:extLst>
          </p:cNvPr>
          <p:cNvSpPr/>
          <p:nvPr/>
        </p:nvSpPr>
        <p:spPr>
          <a:xfrm>
            <a:off x="2032000" y="3682051"/>
            <a:ext cx="2926080" cy="983828"/>
          </a:xfrm>
          <a:custGeom>
            <a:avLst/>
            <a:gdLst>
              <a:gd name="connsiteX0" fmla="*/ 0 w 2926080"/>
              <a:gd name="connsiteY0" fmla="*/ 163975 h 983828"/>
              <a:gd name="connsiteX1" fmla="*/ 163975 w 2926080"/>
              <a:gd name="connsiteY1" fmla="*/ 0 h 983828"/>
              <a:gd name="connsiteX2" fmla="*/ 2762105 w 2926080"/>
              <a:gd name="connsiteY2" fmla="*/ 0 h 983828"/>
              <a:gd name="connsiteX3" fmla="*/ 2926080 w 2926080"/>
              <a:gd name="connsiteY3" fmla="*/ 163975 h 983828"/>
              <a:gd name="connsiteX4" fmla="*/ 2926080 w 2926080"/>
              <a:gd name="connsiteY4" fmla="*/ 819853 h 983828"/>
              <a:gd name="connsiteX5" fmla="*/ 2762105 w 2926080"/>
              <a:gd name="connsiteY5" fmla="*/ 983828 h 983828"/>
              <a:gd name="connsiteX6" fmla="*/ 163975 w 2926080"/>
              <a:gd name="connsiteY6" fmla="*/ 983828 h 983828"/>
              <a:gd name="connsiteX7" fmla="*/ 0 w 2926080"/>
              <a:gd name="connsiteY7" fmla="*/ 819853 h 983828"/>
              <a:gd name="connsiteX8" fmla="*/ 0 w 2926080"/>
              <a:gd name="connsiteY8" fmla="*/ 163975 h 98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26080" h="983828">
                <a:moveTo>
                  <a:pt x="0" y="163975"/>
                </a:moveTo>
                <a:cubicBezTo>
                  <a:pt x="0" y="73414"/>
                  <a:pt x="73414" y="0"/>
                  <a:pt x="163975" y="0"/>
                </a:cubicBezTo>
                <a:lnTo>
                  <a:pt x="2762105" y="0"/>
                </a:lnTo>
                <a:cubicBezTo>
                  <a:pt x="2852666" y="0"/>
                  <a:pt x="2926080" y="73414"/>
                  <a:pt x="2926080" y="163975"/>
                </a:cubicBezTo>
                <a:lnTo>
                  <a:pt x="2926080" y="819853"/>
                </a:lnTo>
                <a:cubicBezTo>
                  <a:pt x="2926080" y="910414"/>
                  <a:pt x="2852666" y="983828"/>
                  <a:pt x="2762105" y="983828"/>
                </a:cubicBezTo>
                <a:lnTo>
                  <a:pt x="163975" y="983828"/>
                </a:lnTo>
                <a:cubicBezTo>
                  <a:pt x="73414" y="983828"/>
                  <a:pt x="0" y="910414"/>
                  <a:pt x="0" y="819853"/>
                </a:cubicBezTo>
                <a:lnTo>
                  <a:pt x="0" y="163975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0897" tIns="99462" rIns="150897" bIns="99462" numCol="1" spcCol="1270" anchor="ctr" anchorCtr="0">
            <a:noAutofit/>
          </a:bodyPr>
          <a:lstStyle/>
          <a:p>
            <a:pPr marL="0" lvl="0" indent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700" kern="1200" dirty="0"/>
              <a:t>Masquerading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3BD25E4-CB74-452C-A628-F7B8CCA315A3}"/>
              </a:ext>
            </a:extLst>
          </p:cNvPr>
          <p:cNvSpPr/>
          <p:nvPr/>
        </p:nvSpPr>
        <p:spPr>
          <a:xfrm>
            <a:off x="4958079" y="4813453"/>
            <a:ext cx="5201920" cy="787062"/>
          </a:xfrm>
          <a:custGeom>
            <a:avLst/>
            <a:gdLst>
              <a:gd name="connsiteX0" fmla="*/ 131180 w 787062"/>
              <a:gd name="connsiteY0" fmla="*/ 0 h 5201920"/>
              <a:gd name="connsiteX1" fmla="*/ 655882 w 787062"/>
              <a:gd name="connsiteY1" fmla="*/ 0 h 5201920"/>
              <a:gd name="connsiteX2" fmla="*/ 787062 w 787062"/>
              <a:gd name="connsiteY2" fmla="*/ 131180 h 5201920"/>
              <a:gd name="connsiteX3" fmla="*/ 787062 w 787062"/>
              <a:gd name="connsiteY3" fmla="*/ 5201920 h 5201920"/>
              <a:gd name="connsiteX4" fmla="*/ 787062 w 787062"/>
              <a:gd name="connsiteY4" fmla="*/ 5201920 h 5201920"/>
              <a:gd name="connsiteX5" fmla="*/ 0 w 787062"/>
              <a:gd name="connsiteY5" fmla="*/ 5201920 h 5201920"/>
              <a:gd name="connsiteX6" fmla="*/ 0 w 787062"/>
              <a:gd name="connsiteY6" fmla="*/ 5201920 h 5201920"/>
              <a:gd name="connsiteX7" fmla="*/ 0 w 787062"/>
              <a:gd name="connsiteY7" fmla="*/ 131180 h 5201920"/>
              <a:gd name="connsiteX8" fmla="*/ 131180 w 787062"/>
              <a:gd name="connsiteY8" fmla="*/ 0 h 5201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87062" h="5201920">
                <a:moveTo>
                  <a:pt x="787062" y="867009"/>
                </a:moveTo>
                <a:lnTo>
                  <a:pt x="787062" y="4334911"/>
                </a:lnTo>
                <a:cubicBezTo>
                  <a:pt x="787062" y="4813747"/>
                  <a:pt x="778176" y="5201917"/>
                  <a:pt x="767214" y="5201917"/>
                </a:cubicBezTo>
                <a:lnTo>
                  <a:pt x="0" y="5201917"/>
                </a:lnTo>
                <a:lnTo>
                  <a:pt x="0" y="5201917"/>
                </a:lnTo>
                <a:lnTo>
                  <a:pt x="0" y="3"/>
                </a:lnTo>
                <a:lnTo>
                  <a:pt x="0" y="3"/>
                </a:lnTo>
                <a:lnTo>
                  <a:pt x="767214" y="3"/>
                </a:lnTo>
                <a:cubicBezTo>
                  <a:pt x="778176" y="3"/>
                  <a:pt x="787062" y="388173"/>
                  <a:pt x="787062" y="867009"/>
                </a:cubicBez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1" tIns="76521" rIns="114620" bIns="76521" numCol="1" spcCol="1270" anchor="ctr" anchorCtr="0">
            <a:noAutofit/>
          </a:bodyPr>
          <a:lstStyle/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2000" kern="1200" dirty="0"/>
              <a:t>Deception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71E153D-1235-D7CF-D8A9-E8BD7E504C5C}"/>
              </a:ext>
            </a:extLst>
          </p:cNvPr>
          <p:cNvSpPr/>
          <p:nvPr/>
        </p:nvSpPr>
        <p:spPr>
          <a:xfrm>
            <a:off x="2032000" y="4715070"/>
            <a:ext cx="2926080" cy="983828"/>
          </a:xfrm>
          <a:custGeom>
            <a:avLst/>
            <a:gdLst>
              <a:gd name="connsiteX0" fmla="*/ 0 w 2926080"/>
              <a:gd name="connsiteY0" fmla="*/ 163975 h 983828"/>
              <a:gd name="connsiteX1" fmla="*/ 163975 w 2926080"/>
              <a:gd name="connsiteY1" fmla="*/ 0 h 983828"/>
              <a:gd name="connsiteX2" fmla="*/ 2762105 w 2926080"/>
              <a:gd name="connsiteY2" fmla="*/ 0 h 983828"/>
              <a:gd name="connsiteX3" fmla="*/ 2926080 w 2926080"/>
              <a:gd name="connsiteY3" fmla="*/ 163975 h 983828"/>
              <a:gd name="connsiteX4" fmla="*/ 2926080 w 2926080"/>
              <a:gd name="connsiteY4" fmla="*/ 819853 h 983828"/>
              <a:gd name="connsiteX5" fmla="*/ 2762105 w 2926080"/>
              <a:gd name="connsiteY5" fmla="*/ 983828 h 983828"/>
              <a:gd name="connsiteX6" fmla="*/ 163975 w 2926080"/>
              <a:gd name="connsiteY6" fmla="*/ 983828 h 983828"/>
              <a:gd name="connsiteX7" fmla="*/ 0 w 2926080"/>
              <a:gd name="connsiteY7" fmla="*/ 819853 h 983828"/>
              <a:gd name="connsiteX8" fmla="*/ 0 w 2926080"/>
              <a:gd name="connsiteY8" fmla="*/ 163975 h 983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26080" h="983828">
                <a:moveTo>
                  <a:pt x="0" y="163975"/>
                </a:moveTo>
                <a:cubicBezTo>
                  <a:pt x="0" y="73414"/>
                  <a:pt x="73414" y="0"/>
                  <a:pt x="163975" y="0"/>
                </a:cubicBezTo>
                <a:lnTo>
                  <a:pt x="2762105" y="0"/>
                </a:lnTo>
                <a:cubicBezTo>
                  <a:pt x="2852666" y="0"/>
                  <a:pt x="2926080" y="73414"/>
                  <a:pt x="2926080" y="163975"/>
                </a:cubicBezTo>
                <a:lnTo>
                  <a:pt x="2926080" y="819853"/>
                </a:lnTo>
                <a:cubicBezTo>
                  <a:pt x="2926080" y="910414"/>
                  <a:pt x="2852666" y="983828"/>
                  <a:pt x="2762105" y="983828"/>
                </a:cubicBezTo>
                <a:lnTo>
                  <a:pt x="163975" y="983828"/>
                </a:lnTo>
                <a:cubicBezTo>
                  <a:pt x="73414" y="983828"/>
                  <a:pt x="0" y="910414"/>
                  <a:pt x="0" y="819853"/>
                </a:cubicBezTo>
                <a:lnTo>
                  <a:pt x="0" y="163975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50897" tIns="99462" rIns="150897" bIns="99462" numCol="1" spcCol="1270" anchor="ctr" anchorCtr="0">
            <a:noAutofit/>
          </a:bodyPr>
          <a:lstStyle/>
          <a:p>
            <a:pPr marL="0" lvl="0" indent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700" kern="1200" dirty="0"/>
              <a:t>Repudiation of Origin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A58AC5B-E7E6-B104-F31D-D36720606029}"/>
              </a:ext>
            </a:extLst>
          </p:cNvPr>
          <p:cNvSpPr/>
          <p:nvPr/>
        </p:nvSpPr>
        <p:spPr>
          <a:xfrm>
            <a:off x="4958079" y="5857475"/>
            <a:ext cx="5201920" cy="414396"/>
          </a:xfrm>
          <a:custGeom>
            <a:avLst/>
            <a:gdLst>
              <a:gd name="connsiteX0" fmla="*/ 69067 w 414396"/>
              <a:gd name="connsiteY0" fmla="*/ 0 h 5201920"/>
              <a:gd name="connsiteX1" fmla="*/ 345329 w 414396"/>
              <a:gd name="connsiteY1" fmla="*/ 0 h 5201920"/>
              <a:gd name="connsiteX2" fmla="*/ 414396 w 414396"/>
              <a:gd name="connsiteY2" fmla="*/ 69067 h 5201920"/>
              <a:gd name="connsiteX3" fmla="*/ 414396 w 414396"/>
              <a:gd name="connsiteY3" fmla="*/ 5201920 h 5201920"/>
              <a:gd name="connsiteX4" fmla="*/ 414396 w 414396"/>
              <a:gd name="connsiteY4" fmla="*/ 5201920 h 5201920"/>
              <a:gd name="connsiteX5" fmla="*/ 0 w 414396"/>
              <a:gd name="connsiteY5" fmla="*/ 5201920 h 5201920"/>
              <a:gd name="connsiteX6" fmla="*/ 0 w 414396"/>
              <a:gd name="connsiteY6" fmla="*/ 5201920 h 5201920"/>
              <a:gd name="connsiteX7" fmla="*/ 0 w 414396"/>
              <a:gd name="connsiteY7" fmla="*/ 69067 h 5201920"/>
              <a:gd name="connsiteX8" fmla="*/ 69067 w 414396"/>
              <a:gd name="connsiteY8" fmla="*/ 0 h 5201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4396" h="5201920">
                <a:moveTo>
                  <a:pt x="414396" y="867003"/>
                </a:moveTo>
                <a:lnTo>
                  <a:pt x="414396" y="4334917"/>
                </a:lnTo>
                <a:cubicBezTo>
                  <a:pt x="414396" y="4813750"/>
                  <a:pt x="411933" y="5201914"/>
                  <a:pt x="408894" y="5201914"/>
                </a:cubicBezTo>
                <a:lnTo>
                  <a:pt x="0" y="5201914"/>
                </a:lnTo>
                <a:lnTo>
                  <a:pt x="0" y="5201914"/>
                </a:lnTo>
                <a:lnTo>
                  <a:pt x="0" y="6"/>
                </a:lnTo>
                <a:lnTo>
                  <a:pt x="0" y="6"/>
                </a:lnTo>
                <a:lnTo>
                  <a:pt x="408894" y="6"/>
                </a:lnTo>
                <a:cubicBezTo>
                  <a:pt x="411933" y="6"/>
                  <a:pt x="414396" y="388170"/>
                  <a:pt x="414396" y="867003"/>
                </a:cubicBez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1" tIns="58329" rIns="96428" bIns="58329" numCol="1" spcCol="1270" anchor="ctr" anchorCtr="0">
            <a:noAutofit/>
          </a:bodyPr>
          <a:lstStyle/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2000" kern="1200" dirty="0"/>
              <a:t>Deception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E088870-5C7C-0D95-FC04-55BF409764BF}"/>
              </a:ext>
            </a:extLst>
          </p:cNvPr>
          <p:cNvSpPr/>
          <p:nvPr/>
        </p:nvSpPr>
        <p:spPr>
          <a:xfrm>
            <a:off x="2032000" y="5748090"/>
            <a:ext cx="2926080" cy="665923"/>
          </a:xfrm>
          <a:custGeom>
            <a:avLst/>
            <a:gdLst>
              <a:gd name="connsiteX0" fmla="*/ 0 w 2926080"/>
              <a:gd name="connsiteY0" fmla="*/ 110989 h 665923"/>
              <a:gd name="connsiteX1" fmla="*/ 110989 w 2926080"/>
              <a:gd name="connsiteY1" fmla="*/ 0 h 665923"/>
              <a:gd name="connsiteX2" fmla="*/ 2815091 w 2926080"/>
              <a:gd name="connsiteY2" fmla="*/ 0 h 665923"/>
              <a:gd name="connsiteX3" fmla="*/ 2926080 w 2926080"/>
              <a:gd name="connsiteY3" fmla="*/ 110989 h 665923"/>
              <a:gd name="connsiteX4" fmla="*/ 2926080 w 2926080"/>
              <a:gd name="connsiteY4" fmla="*/ 554934 h 665923"/>
              <a:gd name="connsiteX5" fmla="*/ 2815091 w 2926080"/>
              <a:gd name="connsiteY5" fmla="*/ 665923 h 665923"/>
              <a:gd name="connsiteX6" fmla="*/ 110989 w 2926080"/>
              <a:gd name="connsiteY6" fmla="*/ 665923 h 665923"/>
              <a:gd name="connsiteX7" fmla="*/ 0 w 2926080"/>
              <a:gd name="connsiteY7" fmla="*/ 554934 h 665923"/>
              <a:gd name="connsiteX8" fmla="*/ 0 w 2926080"/>
              <a:gd name="connsiteY8" fmla="*/ 110989 h 665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26080" h="665923">
                <a:moveTo>
                  <a:pt x="0" y="110989"/>
                </a:moveTo>
                <a:cubicBezTo>
                  <a:pt x="0" y="49691"/>
                  <a:pt x="49691" y="0"/>
                  <a:pt x="110989" y="0"/>
                </a:cubicBezTo>
                <a:lnTo>
                  <a:pt x="2815091" y="0"/>
                </a:lnTo>
                <a:cubicBezTo>
                  <a:pt x="2876389" y="0"/>
                  <a:pt x="2926080" y="49691"/>
                  <a:pt x="2926080" y="110989"/>
                </a:cubicBezTo>
                <a:lnTo>
                  <a:pt x="2926080" y="554934"/>
                </a:lnTo>
                <a:cubicBezTo>
                  <a:pt x="2926080" y="616232"/>
                  <a:pt x="2876389" y="665923"/>
                  <a:pt x="2815091" y="665923"/>
                </a:cubicBezTo>
                <a:lnTo>
                  <a:pt x="110989" y="665923"/>
                </a:lnTo>
                <a:cubicBezTo>
                  <a:pt x="49691" y="665923"/>
                  <a:pt x="0" y="616232"/>
                  <a:pt x="0" y="554934"/>
                </a:cubicBezTo>
                <a:lnTo>
                  <a:pt x="0" y="110989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5378" tIns="83943" rIns="135378" bIns="83943" numCol="1" spcCol="1270" anchor="ctr" anchorCtr="0">
            <a:noAutofit/>
          </a:bodyPr>
          <a:lstStyle/>
          <a:p>
            <a:pPr marL="0" lvl="0" indent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700" kern="1200" dirty="0"/>
              <a:t>Denial of Receipt</a:t>
            </a:r>
          </a:p>
        </p:txBody>
      </p:sp>
    </p:spTree>
    <p:extLst>
      <p:ext uri="{BB962C8B-B14F-4D97-AF65-F5344CB8AC3E}">
        <p14:creationId xmlns:p14="http://schemas.microsoft.com/office/powerpoint/2010/main" val="23347302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286000" y="1676401"/>
            <a:ext cx="609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>
              <a:solidFill>
                <a:srgbClr val="0000FF"/>
              </a:solidFill>
            </a:endParaRPr>
          </a:p>
        </p:txBody>
      </p:sp>
      <p:sp>
        <p:nvSpPr>
          <p:cNvPr id="14340" name="TextBox 2"/>
          <p:cNvSpPr txBox="1">
            <a:spLocks noChangeArrowheads="1"/>
          </p:cNvSpPr>
          <p:nvPr/>
        </p:nvSpPr>
        <p:spPr bwMode="auto">
          <a:xfrm>
            <a:off x="2133600" y="379365"/>
            <a:ext cx="5334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0000FF"/>
                </a:solidFill>
              </a:rPr>
              <a:t>	Threats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BBE1F7F-960F-7161-1CD2-273F8F25DE4A}"/>
              </a:ext>
            </a:extLst>
          </p:cNvPr>
          <p:cNvSpPr/>
          <p:nvPr/>
        </p:nvSpPr>
        <p:spPr>
          <a:xfrm>
            <a:off x="4958079" y="1542292"/>
            <a:ext cx="5201920" cy="817449"/>
          </a:xfrm>
          <a:custGeom>
            <a:avLst/>
            <a:gdLst>
              <a:gd name="connsiteX0" fmla="*/ 64278 w 385660"/>
              <a:gd name="connsiteY0" fmla="*/ 0 h 5201920"/>
              <a:gd name="connsiteX1" fmla="*/ 321382 w 385660"/>
              <a:gd name="connsiteY1" fmla="*/ 0 h 5201920"/>
              <a:gd name="connsiteX2" fmla="*/ 385660 w 385660"/>
              <a:gd name="connsiteY2" fmla="*/ 64278 h 5201920"/>
              <a:gd name="connsiteX3" fmla="*/ 385660 w 385660"/>
              <a:gd name="connsiteY3" fmla="*/ 5201920 h 5201920"/>
              <a:gd name="connsiteX4" fmla="*/ 385660 w 385660"/>
              <a:gd name="connsiteY4" fmla="*/ 5201920 h 5201920"/>
              <a:gd name="connsiteX5" fmla="*/ 0 w 385660"/>
              <a:gd name="connsiteY5" fmla="*/ 5201920 h 5201920"/>
              <a:gd name="connsiteX6" fmla="*/ 0 w 385660"/>
              <a:gd name="connsiteY6" fmla="*/ 5201920 h 5201920"/>
              <a:gd name="connsiteX7" fmla="*/ 0 w 385660"/>
              <a:gd name="connsiteY7" fmla="*/ 64278 h 5201920"/>
              <a:gd name="connsiteX8" fmla="*/ 64278 w 385660"/>
              <a:gd name="connsiteY8" fmla="*/ 0 h 5201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5660" h="5201920">
                <a:moveTo>
                  <a:pt x="385660" y="867009"/>
                </a:moveTo>
                <a:lnTo>
                  <a:pt x="385660" y="4334911"/>
                </a:lnTo>
                <a:cubicBezTo>
                  <a:pt x="385660" y="4813746"/>
                  <a:pt x="383526" y="5201913"/>
                  <a:pt x="380895" y="5201913"/>
                </a:cubicBezTo>
                <a:lnTo>
                  <a:pt x="0" y="5201913"/>
                </a:lnTo>
                <a:lnTo>
                  <a:pt x="0" y="5201913"/>
                </a:lnTo>
                <a:lnTo>
                  <a:pt x="0" y="7"/>
                </a:lnTo>
                <a:lnTo>
                  <a:pt x="0" y="7"/>
                </a:lnTo>
                <a:lnTo>
                  <a:pt x="380895" y="7"/>
                </a:lnTo>
                <a:cubicBezTo>
                  <a:pt x="383526" y="7"/>
                  <a:pt x="385660" y="388174"/>
                  <a:pt x="385660" y="867009"/>
                </a:cubicBez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0" tIns="56926" rIns="95026" bIns="56926" numCol="1" spcCol="1270" anchor="ctr" anchorCtr="0">
            <a:noAutofit/>
          </a:bodyPr>
          <a:lstStyle/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2000" kern="1200" dirty="0"/>
              <a:t>Usurpation</a:t>
            </a:r>
          </a:p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2000" dirty="0"/>
              <a:t>Deception</a:t>
            </a:r>
            <a:endParaRPr lang="en-US" sz="2000" kern="120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4F67D33-4299-1923-CEF8-9D80348ACFB9}"/>
              </a:ext>
            </a:extLst>
          </p:cNvPr>
          <p:cNvSpPr/>
          <p:nvPr/>
        </p:nvSpPr>
        <p:spPr>
          <a:xfrm>
            <a:off x="2032000" y="1417376"/>
            <a:ext cx="2926080" cy="1093568"/>
          </a:xfrm>
          <a:custGeom>
            <a:avLst/>
            <a:gdLst>
              <a:gd name="connsiteX0" fmla="*/ 0 w 2926080"/>
              <a:gd name="connsiteY0" fmla="*/ 111249 h 667478"/>
              <a:gd name="connsiteX1" fmla="*/ 111249 w 2926080"/>
              <a:gd name="connsiteY1" fmla="*/ 0 h 667478"/>
              <a:gd name="connsiteX2" fmla="*/ 2814831 w 2926080"/>
              <a:gd name="connsiteY2" fmla="*/ 0 h 667478"/>
              <a:gd name="connsiteX3" fmla="*/ 2926080 w 2926080"/>
              <a:gd name="connsiteY3" fmla="*/ 111249 h 667478"/>
              <a:gd name="connsiteX4" fmla="*/ 2926080 w 2926080"/>
              <a:gd name="connsiteY4" fmla="*/ 556229 h 667478"/>
              <a:gd name="connsiteX5" fmla="*/ 2814831 w 2926080"/>
              <a:gd name="connsiteY5" fmla="*/ 667478 h 667478"/>
              <a:gd name="connsiteX6" fmla="*/ 111249 w 2926080"/>
              <a:gd name="connsiteY6" fmla="*/ 667478 h 667478"/>
              <a:gd name="connsiteX7" fmla="*/ 0 w 2926080"/>
              <a:gd name="connsiteY7" fmla="*/ 556229 h 667478"/>
              <a:gd name="connsiteX8" fmla="*/ 0 w 2926080"/>
              <a:gd name="connsiteY8" fmla="*/ 111249 h 667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26080" h="667478">
                <a:moveTo>
                  <a:pt x="0" y="111249"/>
                </a:moveTo>
                <a:cubicBezTo>
                  <a:pt x="0" y="49808"/>
                  <a:pt x="49808" y="0"/>
                  <a:pt x="111249" y="0"/>
                </a:cubicBezTo>
                <a:lnTo>
                  <a:pt x="2814831" y="0"/>
                </a:lnTo>
                <a:cubicBezTo>
                  <a:pt x="2876272" y="0"/>
                  <a:pt x="2926080" y="49808"/>
                  <a:pt x="2926080" y="111249"/>
                </a:cubicBezTo>
                <a:lnTo>
                  <a:pt x="2926080" y="556229"/>
                </a:lnTo>
                <a:cubicBezTo>
                  <a:pt x="2926080" y="617670"/>
                  <a:pt x="2876272" y="667478"/>
                  <a:pt x="2814831" y="667478"/>
                </a:cubicBezTo>
                <a:lnTo>
                  <a:pt x="111249" y="667478"/>
                </a:lnTo>
                <a:cubicBezTo>
                  <a:pt x="49808" y="667478"/>
                  <a:pt x="0" y="617670"/>
                  <a:pt x="0" y="556229"/>
                </a:cubicBezTo>
                <a:lnTo>
                  <a:pt x="0" y="111249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5454" tIns="84019" rIns="135454" bIns="84019" numCol="1" spcCol="1270" anchor="ctr" anchorCtr="0">
            <a:noAutofit/>
          </a:bodyPr>
          <a:lstStyle/>
          <a:p>
            <a:pPr marL="0" lvl="0" indent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700" kern="1200" dirty="0"/>
              <a:t>Delay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69412C8-F5AA-9BBA-3F64-79E80B542C4E}"/>
              </a:ext>
            </a:extLst>
          </p:cNvPr>
          <p:cNvSpPr/>
          <p:nvPr/>
        </p:nvSpPr>
        <p:spPr>
          <a:xfrm>
            <a:off x="4955223" y="3029843"/>
            <a:ext cx="5191764" cy="1093568"/>
          </a:xfrm>
          <a:custGeom>
            <a:avLst/>
            <a:gdLst>
              <a:gd name="connsiteX0" fmla="*/ 182265 w 1093568"/>
              <a:gd name="connsiteY0" fmla="*/ 0 h 5191764"/>
              <a:gd name="connsiteX1" fmla="*/ 911303 w 1093568"/>
              <a:gd name="connsiteY1" fmla="*/ 0 h 5191764"/>
              <a:gd name="connsiteX2" fmla="*/ 1093568 w 1093568"/>
              <a:gd name="connsiteY2" fmla="*/ 182265 h 5191764"/>
              <a:gd name="connsiteX3" fmla="*/ 1093568 w 1093568"/>
              <a:gd name="connsiteY3" fmla="*/ 5191764 h 5191764"/>
              <a:gd name="connsiteX4" fmla="*/ 1093568 w 1093568"/>
              <a:gd name="connsiteY4" fmla="*/ 5191764 h 5191764"/>
              <a:gd name="connsiteX5" fmla="*/ 0 w 1093568"/>
              <a:gd name="connsiteY5" fmla="*/ 5191764 h 5191764"/>
              <a:gd name="connsiteX6" fmla="*/ 0 w 1093568"/>
              <a:gd name="connsiteY6" fmla="*/ 5191764 h 5191764"/>
              <a:gd name="connsiteX7" fmla="*/ 0 w 1093568"/>
              <a:gd name="connsiteY7" fmla="*/ 182265 h 5191764"/>
              <a:gd name="connsiteX8" fmla="*/ 182265 w 1093568"/>
              <a:gd name="connsiteY8" fmla="*/ 0 h 5191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93568" h="5191764">
                <a:moveTo>
                  <a:pt x="1093568" y="865311"/>
                </a:moveTo>
                <a:lnTo>
                  <a:pt x="1093568" y="4326453"/>
                </a:lnTo>
                <a:cubicBezTo>
                  <a:pt x="1093568" y="4804350"/>
                  <a:pt x="1076380" y="5191764"/>
                  <a:pt x="1055177" y="5191764"/>
                </a:cubicBezTo>
                <a:lnTo>
                  <a:pt x="0" y="5191764"/>
                </a:lnTo>
                <a:lnTo>
                  <a:pt x="0" y="5191764"/>
                </a:lnTo>
                <a:lnTo>
                  <a:pt x="0" y="0"/>
                </a:lnTo>
                <a:lnTo>
                  <a:pt x="0" y="0"/>
                </a:lnTo>
                <a:lnTo>
                  <a:pt x="1055177" y="0"/>
                </a:lnTo>
                <a:cubicBezTo>
                  <a:pt x="1076380" y="0"/>
                  <a:pt x="1093568" y="387414"/>
                  <a:pt x="1093568" y="865311"/>
                </a:cubicBezTo>
                <a:close/>
              </a:path>
            </a:pathLst>
          </a:custGeom>
        </p:spPr>
        <p:style>
          <a:lnRef idx="2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6200" tIns="91484" rIns="129584" bIns="91484" numCol="1" spcCol="1270" anchor="ctr" anchorCtr="0">
            <a:noAutofit/>
          </a:bodyPr>
          <a:lstStyle/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2000" kern="1200" dirty="0"/>
              <a:t>Usurpation</a:t>
            </a:r>
          </a:p>
          <a:p>
            <a:pPr marL="228600" lvl="1" indent="-228600" algn="l" defTabSz="8890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2000" dirty="0"/>
              <a:t>Deception</a:t>
            </a:r>
            <a:endParaRPr lang="en-US" sz="2000" kern="120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9CA5209-72F8-93FE-6C07-D0A7AC50A14B}"/>
              </a:ext>
            </a:extLst>
          </p:cNvPr>
          <p:cNvSpPr/>
          <p:nvPr/>
        </p:nvSpPr>
        <p:spPr>
          <a:xfrm>
            <a:off x="2034856" y="2827221"/>
            <a:ext cx="2920367" cy="1498813"/>
          </a:xfrm>
          <a:custGeom>
            <a:avLst/>
            <a:gdLst>
              <a:gd name="connsiteX0" fmla="*/ 0 w 2920367"/>
              <a:gd name="connsiteY0" fmla="*/ 249807 h 1498813"/>
              <a:gd name="connsiteX1" fmla="*/ 249807 w 2920367"/>
              <a:gd name="connsiteY1" fmla="*/ 0 h 1498813"/>
              <a:gd name="connsiteX2" fmla="*/ 2670560 w 2920367"/>
              <a:gd name="connsiteY2" fmla="*/ 0 h 1498813"/>
              <a:gd name="connsiteX3" fmla="*/ 2920367 w 2920367"/>
              <a:gd name="connsiteY3" fmla="*/ 249807 h 1498813"/>
              <a:gd name="connsiteX4" fmla="*/ 2920367 w 2920367"/>
              <a:gd name="connsiteY4" fmla="*/ 1249006 h 1498813"/>
              <a:gd name="connsiteX5" fmla="*/ 2670560 w 2920367"/>
              <a:gd name="connsiteY5" fmla="*/ 1498813 h 1498813"/>
              <a:gd name="connsiteX6" fmla="*/ 249807 w 2920367"/>
              <a:gd name="connsiteY6" fmla="*/ 1498813 h 1498813"/>
              <a:gd name="connsiteX7" fmla="*/ 0 w 2920367"/>
              <a:gd name="connsiteY7" fmla="*/ 1249006 h 1498813"/>
              <a:gd name="connsiteX8" fmla="*/ 0 w 2920367"/>
              <a:gd name="connsiteY8" fmla="*/ 249807 h 1498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20367" h="1498813">
                <a:moveTo>
                  <a:pt x="0" y="249807"/>
                </a:moveTo>
                <a:cubicBezTo>
                  <a:pt x="0" y="111842"/>
                  <a:pt x="111842" y="0"/>
                  <a:pt x="249807" y="0"/>
                </a:cubicBezTo>
                <a:lnTo>
                  <a:pt x="2670560" y="0"/>
                </a:lnTo>
                <a:cubicBezTo>
                  <a:pt x="2808525" y="0"/>
                  <a:pt x="2920367" y="111842"/>
                  <a:pt x="2920367" y="249807"/>
                </a:cubicBezTo>
                <a:lnTo>
                  <a:pt x="2920367" y="1249006"/>
                </a:lnTo>
                <a:cubicBezTo>
                  <a:pt x="2920367" y="1386971"/>
                  <a:pt x="2808525" y="1498813"/>
                  <a:pt x="2670560" y="1498813"/>
                </a:cubicBezTo>
                <a:lnTo>
                  <a:pt x="249807" y="1498813"/>
                </a:lnTo>
                <a:cubicBezTo>
                  <a:pt x="111842" y="1498813"/>
                  <a:pt x="0" y="1386971"/>
                  <a:pt x="0" y="1249006"/>
                </a:cubicBezTo>
                <a:lnTo>
                  <a:pt x="0" y="249807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76036" tIns="124601" rIns="176036" bIns="124601" numCol="1" spcCol="1270" anchor="ctr" anchorCtr="0">
            <a:noAutofit/>
          </a:bodyPr>
          <a:lstStyle/>
          <a:p>
            <a:pPr marL="0" lvl="0" indent="0" algn="ctr" defTabSz="12001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700" kern="1200" dirty="0"/>
              <a:t>Denial of Service</a:t>
            </a:r>
          </a:p>
        </p:txBody>
      </p:sp>
    </p:spTree>
    <p:extLst>
      <p:ext uri="{BB962C8B-B14F-4D97-AF65-F5344CB8AC3E}">
        <p14:creationId xmlns:p14="http://schemas.microsoft.com/office/powerpoint/2010/main" val="25152339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286000" y="1676401"/>
            <a:ext cx="609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>
              <a:solidFill>
                <a:srgbClr val="0000FF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24783" y="1859757"/>
            <a:ext cx="9914385" cy="3903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Statement of what is allowed and what is not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Can be represented mathematically as a list of allowed and disallowed states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Can be specified in natural language, </a:t>
            </a:r>
            <a:r>
              <a:rPr lang="en-US" altLang="en-US" sz="2800" b="1" dirty="0">
                <a:solidFill>
                  <a:srgbClr val="FF0000"/>
                </a:solidFill>
              </a:rPr>
              <a:t>ambiguity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Collaborative environments, </a:t>
            </a:r>
            <a:r>
              <a:rPr lang="en-US" altLang="en-US" sz="2800" b="1" dirty="0">
                <a:solidFill>
                  <a:srgbClr val="FF0000"/>
                </a:solidFill>
              </a:rPr>
              <a:t>consistent policy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800" dirty="0"/>
          </a:p>
        </p:txBody>
      </p:sp>
      <p:sp>
        <p:nvSpPr>
          <p:cNvPr id="14340" name="TextBox 2"/>
          <p:cNvSpPr txBox="1">
            <a:spLocks noChangeArrowheads="1"/>
          </p:cNvSpPr>
          <p:nvPr/>
        </p:nvSpPr>
        <p:spPr bwMode="auto">
          <a:xfrm>
            <a:off x="1291931" y="312997"/>
            <a:ext cx="709006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0000FF"/>
                </a:solidFill>
              </a:rPr>
              <a:t>Security Policy</a:t>
            </a:r>
          </a:p>
        </p:txBody>
      </p:sp>
    </p:spTree>
    <p:extLst>
      <p:ext uri="{BB962C8B-B14F-4D97-AF65-F5344CB8AC3E}">
        <p14:creationId xmlns:p14="http://schemas.microsoft.com/office/powerpoint/2010/main" val="7471434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286000" y="1676401"/>
            <a:ext cx="609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>
              <a:solidFill>
                <a:srgbClr val="0000FF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24783" y="1859757"/>
            <a:ext cx="9914385" cy="13181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Method/tool/procedure to enforce security policy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800" dirty="0"/>
              <a:t>Can be technical or non-technical</a:t>
            </a:r>
          </a:p>
        </p:txBody>
      </p:sp>
      <p:sp>
        <p:nvSpPr>
          <p:cNvPr id="14340" name="TextBox 2"/>
          <p:cNvSpPr txBox="1">
            <a:spLocks noChangeArrowheads="1"/>
          </p:cNvSpPr>
          <p:nvPr/>
        </p:nvSpPr>
        <p:spPr bwMode="auto">
          <a:xfrm>
            <a:off x="1291931" y="312997"/>
            <a:ext cx="709006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0000FF"/>
                </a:solidFill>
              </a:rPr>
              <a:t>Security Mechanism</a:t>
            </a:r>
          </a:p>
        </p:txBody>
      </p:sp>
    </p:spTree>
    <p:extLst>
      <p:ext uri="{BB962C8B-B14F-4D97-AF65-F5344CB8AC3E}">
        <p14:creationId xmlns:p14="http://schemas.microsoft.com/office/powerpoint/2010/main" val="31645952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TextBox 2"/>
          <p:cNvSpPr txBox="1">
            <a:spLocks noChangeArrowheads="1"/>
          </p:cNvSpPr>
          <p:nvPr/>
        </p:nvSpPr>
        <p:spPr bwMode="auto">
          <a:xfrm>
            <a:off x="1291931" y="312997"/>
            <a:ext cx="709006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0000FF"/>
                </a:solidFill>
              </a:rPr>
              <a:t>Goals of Security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21B225A-66D4-3F15-2834-C3A1E06762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3534152"/>
              </p:ext>
            </p:extLst>
          </p:nvPr>
        </p:nvGraphicFramePr>
        <p:xfrm>
          <a:off x="2032000" y="1666568"/>
          <a:ext cx="8128000" cy="4471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446120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286000" y="1676401"/>
            <a:ext cx="609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>
              <a:solidFill>
                <a:srgbClr val="0000FF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44353" y="1756518"/>
            <a:ext cx="10703293" cy="48690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rgbClr val="000000"/>
                </a:solidFill>
              </a:rPr>
              <a:t>Underlie </a:t>
            </a:r>
            <a:r>
              <a:rPr lang="en-US" altLang="en-US" sz="3200" i="1" dirty="0">
                <a:solidFill>
                  <a:srgbClr val="000000"/>
                </a:solidFill>
              </a:rPr>
              <a:t>all</a:t>
            </a:r>
            <a:r>
              <a:rPr lang="en-US" altLang="en-US" sz="3200" dirty="0">
                <a:solidFill>
                  <a:srgbClr val="000000"/>
                </a:solidFill>
              </a:rPr>
              <a:t> aspects of security</a:t>
            </a: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rgbClr val="000000"/>
                </a:solidFill>
              </a:rPr>
              <a:t>Policies</a:t>
            </a:r>
          </a:p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>Unambiguously partition system states into secure &amp; nonsecure</a:t>
            </a:r>
          </a:p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>Security mechanisms prevent system from entering nonsecure state</a:t>
            </a: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rgbClr val="000000"/>
                </a:solidFill>
              </a:rPr>
              <a:t>Mechanisms</a:t>
            </a:r>
          </a:p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>Assumed to enforce policy</a:t>
            </a:r>
          </a:p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>All mechanisms implement all aspects of security policy</a:t>
            </a:r>
          </a:p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>Tamperproof</a:t>
            </a:r>
          </a:p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>Implemented, installed &amp; administered correctly</a:t>
            </a:r>
          </a:p>
        </p:txBody>
      </p:sp>
      <p:sp>
        <p:nvSpPr>
          <p:cNvPr id="14340" name="TextBox 2"/>
          <p:cNvSpPr txBox="1">
            <a:spLocks noChangeArrowheads="1"/>
          </p:cNvSpPr>
          <p:nvPr/>
        </p:nvSpPr>
        <p:spPr bwMode="auto">
          <a:xfrm>
            <a:off x="1291931" y="312997"/>
            <a:ext cx="709006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0000FF"/>
                </a:solidFill>
              </a:rPr>
              <a:t>Assumptions &amp; Trust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1C50EB-FAFE-0A2E-24FA-B35E005D89F8}"/>
              </a:ext>
            </a:extLst>
          </p:cNvPr>
          <p:cNvSpPr txBox="1"/>
          <p:nvPr/>
        </p:nvSpPr>
        <p:spPr>
          <a:xfrm>
            <a:off x="516193" y="6582504"/>
            <a:ext cx="68727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Slides adapted and modified from Computer Security: Art &amp; Science By Matt Bishop</a:t>
            </a:r>
          </a:p>
        </p:txBody>
      </p:sp>
    </p:spTree>
    <p:extLst>
      <p:ext uri="{BB962C8B-B14F-4D97-AF65-F5344CB8AC3E}">
        <p14:creationId xmlns:p14="http://schemas.microsoft.com/office/powerpoint/2010/main" val="631071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286000" y="1676401"/>
            <a:ext cx="609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>
              <a:solidFill>
                <a:srgbClr val="0000FF"/>
              </a:solidFill>
            </a:endParaRPr>
          </a:p>
        </p:txBody>
      </p:sp>
      <p:sp>
        <p:nvSpPr>
          <p:cNvPr id="14340" name="TextBox 2"/>
          <p:cNvSpPr txBox="1">
            <a:spLocks noChangeArrowheads="1"/>
          </p:cNvSpPr>
          <p:nvPr/>
        </p:nvSpPr>
        <p:spPr bwMode="auto">
          <a:xfrm>
            <a:off x="1291931" y="312997"/>
            <a:ext cx="709006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0000FF"/>
                </a:solidFill>
              </a:rPr>
              <a:t>Types of Mechanisms</a:t>
            </a:r>
          </a:p>
        </p:txBody>
      </p:sp>
      <p:sp>
        <p:nvSpPr>
          <p:cNvPr id="3" name="Oval 9">
            <a:extLst>
              <a:ext uri="{FF2B5EF4-FFF2-40B4-BE49-F238E27FC236}">
                <a16:creationId xmlns:a16="http://schemas.microsoft.com/office/drawing/2014/main" id="{A3072E6E-1030-6795-42D9-5ED4EC094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8691" y="2133600"/>
            <a:ext cx="1905000" cy="1828800"/>
          </a:xfrm>
          <a:prstGeom prst="ellipse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Oval 6">
            <a:extLst>
              <a:ext uri="{FF2B5EF4-FFF2-40B4-BE49-F238E27FC236}">
                <a16:creationId xmlns:a16="http://schemas.microsoft.com/office/drawing/2014/main" id="{DA5D1CF5-030D-6E23-BF82-0A675E088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3491" y="2362200"/>
            <a:ext cx="1219200" cy="1219200"/>
          </a:xfrm>
          <a:prstGeom prst="ellipse">
            <a:avLst/>
          </a:prstGeom>
          <a:pattFill prst="lgGrid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Oval 10">
            <a:extLst>
              <a:ext uri="{FF2B5EF4-FFF2-40B4-BE49-F238E27FC236}">
                <a16:creationId xmlns:a16="http://schemas.microsoft.com/office/drawing/2014/main" id="{621C4551-E1C6-89F9-2BC2-129406C81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5691" y="2133600"/>
            <a:ext cx="1905000" cy="1828800"/>
          </a:xfrm>
          <a:prstGeom prst="ellipse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Oval 11">
            <a:extLst>
              <a:ext uri="{FF2B5EF4-FFF2-40B4-BE49-F238E27FC236}">
                <a16:creationId xmlns:a16="http://schemas.microsoft.com/office/drawing/2014/main" id="{A3E9221B-454E-6617-1B30-52F57D10D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5691" y="2133600"/>
            <a:ext cx="1905000" cy="1828800"/>
          </a:xfrm>
          <a:prstGeom prst="ellipse">
            <a:avLst/>
          </a:prstGeom>
          <a:pattFill prst="lgGrid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Oval 12">
            <a:extLst>
              <a:ext uri="{FF2B5EF4-FFF2-40B4-BE49-F238E27FC236}">
                <a16:creationId xmlns:a16="http://schemas.microsoft.com/office/drawing/2014/main" id="{552D13E3-EDA2-6019-A004-4EAECB9F3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491" y="2133600"/>
            <a:ext cx="1905000" cy="1828800"/>
          </a:xfrm>
          <a:prstGeom prst="ellipse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Oval 13">
            <a:extLst>
              <a:ext uri="{FF2B5EF4-FFF2-40B4-BE49-F238E27FC236}">
                <a16:creationId xmlns:a16="http://schemas.microsoft.com/office/drawing/2014/main" id="{AE7FF723-1477-DBAE-C637-F726CA917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1891" y="2362200"/>
            <a:ext cx="1219200" cy="1219200"/>
          </a:xfrm>
          <a:prstGeom prst="ellipse">
            <a:avLst/>
          </a:prstGeom>
          <a:pattFill prst="lgGrid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Text Box 14">
            <a:extLst>
              <a:ext uri="{FF2B5EF4-FFF2-40B4-BE49-F238E27FC236}">
                <a16:creationId xmlns:a16="http://schemas.microsoft.com/office/drawing/2014/main" id="{F3F1A1BE-F76D-97FF-9DBA-186F07BEB0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0666" y="4152900"/>
            <a:ext cx="962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secure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677D7928-4216-4A18-ABE7-DA49206381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6965" y="4122277"/>
            <a:ext cx="10461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precise</a:t>
            </a:r>
          </a:p>
        </p:txBody>
      </p:sp>
      <p:sp>
        <p:nvSpPr>
          <p:cNvPr id="11" name="Text Box 16">
            <a:extLst>
              <a:ext uri="{FF2B5EF4-FFF2-40B4-BE49-F238E27FC236}">
                <a16:creationId xmlns:a16="http://schemas.microsoft.com/office/drawing/2014/main" id="{12D5B83C-FC2A-6E6C-5A8D-B3FA67A4D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3120" y="4152900"/>
            <a:ext cx="877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/>
              <a:t>broad</a:t>
            </a:r>
          </a:p>
        </p:txBody>
      </p:sp>
      <p:sp>
        <p:nvSpPr>
          <p:cNvPr id="12" name="Oval 17">
            <a:extLst>
              <a:ext uri="{FF2B5EF4-FFF2-40B4-BE49-F238E27FC236}">
                <a16:creationId xmlns:a16="http://schemas.microsoft.com/office/drawing/2014/main" id="{A749B255-8580-D555-BB72-5DF36BB40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6291" y="5257800"/>
            <a:ext cx="533400" cy="533400"/>
          </a:xfrm>
          <a:prstGeom prst="ellipse">
            <a:avLst/>
          </a:prstGeom>
          <a:pattFill prst="lgGrid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18">
            <a:extLst>
              <a:ext uri="{FF2B5EF4-FFF2-40B4-BE49-F238E27FC236}">
                <a16:creationId xmlns:a16="http://schemas.microsoft.com/office/drawing/2014/main" id="{A41B7244-9F2A-C8EB-8BE5-0CB9AC424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5891" y="5257800"/>
            <a:ext cx="2846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set of reachable states</a:t>
            </a:r>
          </a:p>
        </p:txBody>
      </p:sp>
      <p:sp>
        <p:nvSpPr>
          <p:cNvPr id="14" name="Oval 20">
            <a:extLst>
              <a:ext uri="{FF2B5EF4-FFF2-40B4-BE49-F238E27FC236}">
                <a16:creationId xmlns:a16="http://schemas.microsoft.com/office/drawing/2014/main" id="{8F44CCC4-F106-F74A-E1F6-F49D5519A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6891" y="5257800"/>
            <a:ext cx="533400" cy="533400"/>
          </a:xfrm>
          <a:prstGeom prst="ellipse">
            <a:avLst/>
          </a:prstGeom>
          <a:pattFill prst="ltUpDiag">
            <a:fgClr>
              <a:schemeClr val="tx2"/>
            </a:fgClr>
            <a:bgClr>
              <a:schemeClr val="bg1"/>
            </a:bgClr>
          </a:patt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Text Box 21">
            <a:extLst>
              <a:ext uri="{FF2B5EF4-FFF2-40B4-BE49-F238E27FC236}">
                <a16:creationId xmlns:a16="http://schemas.microsoft.com/office/drawing/2014/main" id="{96EC488C-BC05-4720-A23A-9CC7A4EAE7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6491" y="5257800"/>
            <a:ext cx="2459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set of secure states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5ECECC-216C-4F5C-4425-26B81145765B}"/>
              </a:ext>
            </a:extLst>
          </p:cNvPr>
          <p:cNvSpPr txBox="1"/>
          <p:nvPr/>
        </p:nvSpPr>
        <p:spPr>
          <a:xfrm>
            <a:off x="516193" y="6582504"/>
            <a:ext cx="68727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Slides adapted and modified from Computer Security: Art &amp; Science By Matt Bishop</a:t>
            </a:r>
          </a:p>
        </p:txBody>
      </p:sp>
    </p:spTree>
    <p:extLst>
      <p:ext uri="{BB962C8B-B14F-4D97-AF65-F5344CB8AC3E}">
        <p14:creationId xmlns:p14="http://schemas.microsoft.com/office/powerpoint/2010/main" val="146095815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286000" y="1676401"/>
            <a:ext cx="609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>
              <a:solidFill>
                <a:srgbClr val="0000FF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38807" y="1756518"/>
            <a:ext cx="9914385" cy="4130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rgbClr val="000000"/>
                </a:solidFill>
              </a:rPr>
              <a:t>Specification</a:t>
            </a:r>
          </a:p>
          <a:p>
            <a:pPr marL="914400" lvl="1" indent="-45720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3200" dirty="0">
                <a:solidFill>
                  <a:srgbClr val="000000"/>
                </a:solidFill>
              </a:rPr>
              <a:t>Statement of desired functionality</a:t>
            </a:r>
          </a:p>
          <a:p>
            <a:pPr marL="914400" lvl="1" indent="-45720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3200" dirty="0">
                <a:solidFill>
                  <a:srgbClr val="000000"/>
                </a:solidFill>
              </a:rPr>
              <a:t>Formal/informal statement</a:t>
            </a: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rgbClr val="000000"/>
                </a:solidFill>
              </a:rPr>
              <a:t>Design</a:t>
            </a:r>
          </a:p>
          <a:p>
            <a:pPr marL="914400" lvl="1" indent="-45720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3200" dirty="0">
                <a:solidFill>
                  <a:srgbClr val="000000"/>
                </a:solidFill>
              </a:rPr>
              <a:t>How system will meet specification</a:t>
            </a: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rgbClr val="000000"/>
                </a:solidFill>
              </a:rPr>
              <a:t>Implementation</a:t>
            </a:r>
          </a:p>
          <a:p>
            <a:pPr marL="914400" lvl="1" indent="-457200" fontAlgn="base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3200" dirty="0">
                <a:solidFill>
                  <a:srgbClr val="000000"/>
                </a:solidFill>
              </a:rPr>
              <a:t>Programs/systems that carry out design</a:t>
            </a:r>
          </a:p>
        </p:txBody>
      </p:sp>
      <p:sp>
        <p:nvSpPr>
          <p:cNvPr id="14340" name="TextBox 2"/>
          <p:cNvSpPr txBox="1">
            <a:spLocks noChangeArrowheads="1"/>
          </p:cNvSpPr>
          <p:nvPr/>
        </p:nvSpPr>
        <p:spPr bwMode="auto">
          <a:xfrm>
            <a:off x="1291931" y="312997"/>
            <a:ext cx="709006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0000FF"/>
                </a:solidFill>
              </a:rPr>
              <a:t>Assurance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3A3662-B03D-BA90-12E6-2492CD688905}"/>
              </a:ext>
            </a:extLst>
          </p:cNvPr>
          <p:cNvSpPr txBox="1"/>
          <p:nvPr/>
        </p:nvSpPr>
        <p:spPr>
          <a:xfrm>
            <a:off x="516193" y="6582504"/>
            <a:ext cx="68727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Slides adapted and modified from Computer Security: Art &amp; Science By Matt Bishop</a:t>
            </a:r>
          </a:p>
        </p:txBody>
      </p:sp>
    </p:spTree>
    <p:extLst>
      <p:ext uri="{BB962C8B-B14F-4D97-AF65-F5344CB8AC3E}">
        <p14:creationId xmlns:p14="http://schemas.microsoft.com/office/powerpoint/2010/main" val="12772720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286000" y="1676401"/>
            <a:ext cx="609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>
              <a:solidFill>
                <a:srgbClr val="0000FF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38807" y="1756518"/>
            <a:ext cx="9914385" cy="4130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rgbClr val="000000"/>
                </a:solidFill>
              </a:rPr>
              <a:t>Cost-Benefit Analysis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>Is it cheaper to prevent or recover?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rgbClr val="000000"/>
                </a:solidFill>
              </a:rPr>
              <a:t>Risk Analysis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>Should we protect something?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>How much should we protect this thing?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rgbClr val="000000"/>
                </a:solidFill>
              </a:rPr>
              <a:t>Laws and Customs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>Are desired security measures illegal?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>Will </a:t>
            </a:r>
            <a:r>
              <a:rPr lang="en-US" altLang="en-US" sz="2800">
                <a:solidFill>
                  <a:srgbClr val="000000"/>
                </a:solidFill>
              </a:rPr>
              <a:t>people use </a:t>
            </a:r>
            <a:r>
              <a:rPr lang="en-US" altLang="en-US" sz="2800" dirty="0">
                <a:solidFill>
                  <a:srgbClr val="000000"/>
                </a:solidFill>
              </a:rPr>
              <a:t>them?</a:t>
            </a:r>
          </a:p>
        </p:txBody>
      </p:sp>
      <p:sp>
        <p:nvSpPr>
          <p:cNvPr id="14340" name="TextBox 2"/>
          <p:cNvSpPr txBox="1">
            <a:spLocks noChangeArrowheads="1"/>
          </p:cNvSpPr>
          <p:nvPr/>
        </p:nvSpPr>
        <p:spPr bwMode="auto">
          <a:xfrm>
            <a:off x="1291931" y="312997"/>
            <a:ext cx="709006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0000FF"/>
                </a:solidFill>
              </a:rPr>
              <a:t>Operational Issues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CA9970-2EA7-4E2D-30DA-2E76F7A72D7C}"/>
              </a:ext>
            </a:extLst>
          </p:cNvPr>
          <p:cNvSpPr txBox="1"/>
          <p:nvPr/>
        </p:nvSpPr>
        <p:spPr>
          <a:xfrm>
            <a:off x="516193" y="6582504"/>
            <a:ext cx="68727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Slides adapted and modified from Computer Security: Art &amp; Science By Matt Bishop</a:t>
            </a:r>
          </a:p>
        </p:txBody>
      </p:sp>
    </p:spTree>
    <p:extLst>
      <p:ext uri="{BB962C8B-B14F-4D97-AF65-F5344CB8AC3E}">
        <p14:creationId xmlns:p14="http://schemas.microsoft.com/office/powerpoint/2010/main" val="31361070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286000" y="1676401"/>
            <a:ext cx="609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>
              <a:solidFill>
                <a:srgbClr val="0000FF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38807" y="1756518"/>
            <a:ext cx="9914385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rgbClr val="000000"/>
                </a:solidFill>
              </a:rPr>
              <a:t>Organizational Problems</a:t>
            </a:r>
          </a:p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>Financial benefits</a:t>
            </a:r>
          </a:p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>Power and responsibility</a:t>
            </a:r>
          </a:p>
          <a:p>
            <a:pPr marL="342900" lvl="0" indent="-342900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dirty="0">
                <a:solidFill>
                  <a:srgbClr val="000000"/>
                </a:solidFill>
              </a:rPr>
              <a:t>People problems</a:t>
            </a:r>
          </a:p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>Outsiders and insiders</a:t>
            </a:r>
          </a:p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>Untrained personnel</a:t>
            </a:r>
          </a:p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>Unmindful </a:t>
            </a:r>
            <a:r>
              <a:rPr lang="en-US" altLang="en-US" sz="2800">
                <a:solidFill>
                  <a:srgbClr val="000000"/>
                </a:solidFill>
              </a:rPr>
              <a:t>system admins</a:t>
            </a:r>
            <a:endParaRPr lang="en-US" altLang="en-US" sz="2800" dirty="0">
              <a:solidFill>
                <a:srgbClr val="000000"/>
              </a:solidFill>
            </a:endParaRPr>
          </a:p>
          <a:p>
            <a:pPr marL="742950" lvl="1" indent="-285750" fontAlgn="base"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>Social engineering</a:t>
            </a:r>
          </a:p>
        </p:txBody>
      </p:sp>
      <p:sp>
        <p:nvSpPr>
          <p:cNvPr id="14340" name="TextBox 2"/>
          <p:cNvSpPr txBox="1">
            <a:spLocks noChangeArrowheads="1"/>
          </p:cNvSpPr>
          <p:nvPr/>
        </p:nvSpPr>
        <p:spPr bwMode="auto">
          <a:xfrm>
            <a:off x="1291931" y="312997"/>
            <a:ext cx="709006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0000FF"/>
                </a:solidFill>
              </a:rPr>
              <a:t>Human Issues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CDA80E-9CC8-7E1A-05B0-CC58ECC3E1C1}"/>
              </a:ext>
            </a:extLst>
          </p:cNvPr>
          <p:cNvSpPr txBox="1"/>
          <p:nvPr/>
        </p:nvSpPr>
        <p:spPr>
          <a:xfrm>
            <a:off x="516193" y="6582504"/>
            <a:ext cx="68727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Slides adapted and modified from Computer Security: Art &amp; Science By Matt Bishop</a:t>
            </a:r>
          </a:p>
        </p:txBody>
      </p:sp>
    </p:spTree>
    <p:extLst>
      <p:ext uri="{BB962C8B-B14F-4D97-AF65-F5344CB8AC3E}">
        <p14:creationId xmlns:p14="http://schemas.microsoft.com/office/powerpoint/2010/main" val="4569192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193493" y="2967335"/>
            <a:ext cx="3805016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00FF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317322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286000" y="1676401"/>
            <a:ext cx="609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>
              <a:solidFill>
                <a:srgbClr val="0000FF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38807" y="1756518"/>
            <a:ext cx="9914385" cy="4130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rgbClr val="000000"/>
                </a:solidFill>
              </a:rPr>
              <a:t xml:space="preserve">Confidentiality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 xml:space="preserve">Leaked medical records expose patient data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rgbClr val="000000"/>
                </a:solidFill>
              </a:rPr>
              <a:t xml:space="preserve">Integrity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 xml:space="preserve">Attacker alters a bank balance from Rs 1,000 to Rs 1,00,000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rgbClr val="000000"/>
                </a:solidFill>
              </a:rPr>
              <a:t xml:space="preserve">Availability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 xml:space="preserve">DDoS attack takes a banking website offline</a:t>
            </a:r>
          </a:p>
        </p:txBody>
      </p:sp>
      <p:sp>
        <p:nvSpPr>
          <p:cNvPr id="14340" name="TextBox 2"/>
          <p:cNvSpPr txBox="1">
            <a:spLocks noChangeArrowheads="1"/>
          </p:cNvSpPr>
          <p:nvPr/>
        </p:nvSpPr>
        <p:spPr bwMode="auto">
          <a:xfrm>
            <a:off x="1291931" y="312997"/>
            <a:ext cx="709006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0000FF"/>
                </a:solidFill>
              </a:rPr>
              <a:t xml:space="preserve">CIA Triad – Examples</a:t>
            </a:r>
          </a:p>
        </p:txBody>
      </p:sp>
    </p:spTree>
    <p:extLst>
      <p:ext uri="{BB962C8B-B14F-4D97-AF65-F5344CB8AC3E}">
        <p14:creationId xmlns:p14="http://schemas.microsoft.com/office/powerpoint/2010/main" val="31361070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286000" y="1676401"/>
            <a:ext cx="609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>
              <a:solidFill>
                <a:srgbClr val="0000FF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38807" y="1756518"/>
            <a:ext cx="9914385" cy="4130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rgbClr val="000000"/>
                </a:solidFill>
              </a:rPr>
              <a:t xml:space="preserve">Snooping (Disclosure)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 xml:space="preserve">Packet sniffing on public Wi-Fi to read passwords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rgbClr val="000000"/>
                </a:solidFill>
              </a:rPr>
              <a:t xml:space="preserve">Modification (Deception)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 xml:space="preserve">Man-in-the-middle alters an online transaction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rgbClr val="000000"/>
                </a:solidFill>
              </a:rPr>
              <a:t xml:space="preserve">Masquerading (Deception)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 xml:space="preserve">A fake website poses as your bank to steal logins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rgbClr val="000000"/>
                </a:solidFill>
              </a:rPr>
              <a:t xml:space="preserve">Denial of Service (Disruption)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 xml:space="preserve">Flooding a server so real users cannot connect</a:t>
            </a:r>
          </a:p>
        </p:txBody>
      </p:sp>
      <p:sp>
        <p:nvSpPr>
          <p:cNvPr id="14340" name="TextBox 2"/>
          <p:cNvSpPr txBox="1">
            <a:spLocks noChangeArrowheads="1"/>
          </p:cNvSpPr>
          <p:nvPr/>
        </p:nvSpPr>
        <p:spPr bwMode="auto">
          <a:xfrm>
            <a:off x="1291931" y="312997"/>
            <a:ext cx="709006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0000FF"/>
                </a:solidFill>
              </a:rPr>
              <a:t xml:space="preserve">Threats – Examples</a:t>
            </a:r>
          </a:p>
        </p:txBody>
      </p:sp>
    </p:spTree>
    <p:extLst>
      <p:ext uri="{BB962C8B-B14F-4D97-AF65-F5344CB8AC3E}">
        <p14:creationId xmlns:p14="http://schemas.microsoft.com/office/powerpoint/2010/main" val="31361070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286000" y="1676401"/>
            <a:ext cx="609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>
              <a:solidFill>
                <a:srgbClr val="0000FF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38807" y="1756518"/>
            <a:ext cx="9914385" cy="4130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rgbClr val="000000"/>
                </a:solidFill>
              </a:rPr>
              <a:t xml:space="preserve">University grade-system policy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 xml:space="preserve">A student may read their own grades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 xml:space="preserve">Only faculty may modify grades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 xml:space="preserve">No student may read another student's grades</a:t>
            </a:r>
          </a:p>
        </p:txBody>
      </p:sp>
      <p:sp>
        <p:nvSpPr>
          <p:cNvPr id="14340" name="TextBox 2"/>
          <p:cNvSpPr txBox="1">
            <a:spLocks noChangeArrowheads="1"/>
          </p:cNvSpPr>
          <p:nvPr/>
        </p:nvSpPr>
        <p:spPr bwMode="auto">
          <a:xfrm>
            <a:off x="1291931" y="312997"/>
            <a:ext cx="709006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0000FF"/>
                </a:solidFill>
              </a:rPr>
              <a:t xml:space="preserve">Security Policy – Example</a:t>
            </a:r>
          </a:p>
        </p:txBody>
      </p:sp>
    </p:spTree>
    <p:extLst>
      <p:ext uri="{BB962C8B-B14F-4D97-AF65-F5344CB8AC3E}">
        <p14:creationId xmlns:p14="http://schemas.microsoft.com/office/powerpoint/2010/main" val="31361070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286000" y="1676401"/>
            <a:ext cx="609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>
              <a:solidFill>
                <a:srgbClr val="0000FF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38807" y="1756518"/>
            <a:ext cx="9914385" cy="4130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rgbClr val="000000"/>
                </a:solidFill>
              </a:rPr>
              <a:t xml:space="preserve">Technical mechanisms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 xml:space="preserve">Passwords, encryption, firewalls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rgbClr val="000000"/>
                </a:solidFill>
              </a:rPr>
              <a:t xml:space="preserve">Non-technical mechanisms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 xml:space="preserve">Security guard, locked server room, ID checks</a:t>
            </a:r>
          </a:p>
        </p:txBody>
      </p:sp>
      <p:sp>
        <p:nvSpPr>
          <p:cNvPr id="14340" name="TextBox 2"/>
          <p:cNvSpPr txBox="1">
            <a:spLocks noChangeArrowheads="1"/>
          </p:cNvSpPr>
          <p:nvPr/>
        </p:nvSpPr>
        <p:spPr bwMode="auto">
          <a:xfrm>
            <a:off x="1291931" y="312997"/>
            <a:ext cx="709006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0000FF"/>
                </a:solidFill>
              </a:rPr>
              <a:t xml:space="preserve">Mechanism – Examples</a:t>
            </a:r>
          </a:p>
        </p:txBody>
      </p:sp>
    </p:spTree>
    <p:extLst>
      <p:ext uri="{BB962C8B-B14F-4D97-AF65-F5344CB8AC3E}">
        <p14:creationId xmlns:p14="http://schemas.microsoft.com/office/powerpoint/2010/main" val="31361070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286000" y="1676401"/>
            <a:ext cx="609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>
              <a:solidFill>
                <a:srgbClr val="0000FF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38807" y="1756518"/>
            <a:ext cx="9914385" cy="4130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rgbClr val="000000"/>
                </a:solidFill>
              </a:rPr>
              <a:t xml:space="preserve">Prevention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 xml:space="preserve">Encrypt data so it is useless if stolen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rgbClr val="000000"/>
                </a:solidFill>
              </a:rPr>
              <a:t xml:space="preserve">Detection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 xml:space="preserve">Audit logs and IDS flag a break-in attempt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rgbClr val="000000"/>
                </a:solidFill>
              </a:rPr>
              <a:t xml:space="preserve">Recovery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 xml:space="preserve">Restore from backups after a ransomware attack</a:t>
            </a:r>
          </a:p>
        </p:txBody>
      </p:sp>
      <p:sp>
        <p:nvSpPr>
          <p:cNvPr id="14340" name="TextBox 2"/>
          <p:cNvSpPr txBox="1">
            <a:spLocks noChangeArrowheads="1"/>
          </p:cNvSpPr>
          <p:nvPr/>
        </p:nvSpPr>
        <p:spPr bwMode="auto">
          <a:xfrm>
            <a:off x="1291931" y="312997"/>
            <a:ext cx="709006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0000FF"/>
                </a:solidFill>
              </a:rPr>
              <a:t xml:space="preserve">Goals of Security – Examples</a:t>
            </a:r>
          </a:p>
        </p:txBody>
      </p:sp>
    </p:spTree>
    <p:extLst>
      <p:ext uri="{BB962C8B-B14F-4D97-AF65-F5344CB8AC3E}">
        <p14:creationId xmlns:p14="http://schemas.microsoft.com/office/powerpoint/2010/main" val="31361070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286000" y="1676401"/>
            <a:ext cx="609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>
              <a:solidFill>
                <a:srgbClr val="0000FF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38807" y="1756518"/>
            <a:ext cx="9914385" cy="4130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rgbClr val="000000"/>
                </a:solidFill>
              </a:rPr>
              <a:t xml:space="preserve">A trust assumption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 xml:space="preserve">Browser trusts an HTTPS site because a Certificate Authority vouches for it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rgbClr val="000000"/>
                </a:solidFill>
              </a:rPr>
              <a:t xml:space="preserve">A flawed assumption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 xml:space="preserve">Policy assumes administrators never misconfigure the system</a:t>
            </a:r>
          </a:p>
        </p:txBody>
      </p:sp>
      <p:sp>
        <p:nvSpPr>
          <p:cNvPr id="14340" name="TextBox 2"/>
          <p:cNvSpPr txBox="1">
            <a:spLocks noChangeArrowheads="1"/>
          </p:cNvSpPr>
          <p:nvPr/>
        </p:nvSpPr>
        <p:spPr bwMode="auto">
          <a:xfrm>
            <a:off x="1291931" y="312997"/>
            <a:ext cx="709006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0000FF"/>
                </a:solidFill>
              </a:rPr>
              <a:t xml:space="preserve">Assumptions – Example</a:t>
            </a:r>
          </a:p>
        </p:txBody>
      </p:sp>
    </p:spTree>
    <p:extLst>
      <p:ext uri="{BB962C8B-B14F-4D97-AF65-F5344CB8AC3E}">
        <p14:creationId xmlns:p14="http://schemas.microsoft.com/office/powerpoint/2010/main" val="31361070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286000" y="1676401"/>
            <a:ext cx="609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>
              <a:solidFill>
                <a:srgbClr val="0000FF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38807" y="1756518"/>
            <a:ext cx="9914385" cy="4130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rgbClr val="000000"/>
                </a:solidFill>
              </a:rPr>
              <a:t xml:space="preserve">Secure mechanism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 xml:space="preserve">Blocks every unsafe action, but may deny some valid ones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rgbClr val="000000"/>
                </a:solidFill>
              </a:rPr>
              <a:t xml:space="preserve">Precise mechanism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 xml:space="preserve">Allows exactly the permitted actions, nothing more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rgbClr val="000000"/>
                </a:solidFill>
              </a:rPr>
              <a:t xml:space="preserve">Broad mechanism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 xml:space="preserve">Permits some unauthorized actions too</a:t>
            </a:r>
          </a:p>
        </p:txBody>
      </p:sp>
      <p:sp>
        <p:nvSpPr>
          <p:cNvPr id="14340" name="TextBox 2"/>
          <p:cNvSpPr txBox="1">
            <a:spLocks noChangeArrowheads="1"/>
          </p:cNvSpPr>
          <p:nvPr/>
        </p:nvSpPr>
        <p:spPr bwMode="auto">
          <a:xfrm>
            <a:off x="1291931" y="312997"/>
            <a:ext cx="709006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0000FF"/>
                </a:solidFill>
              </a:rPr>
              <a:t xml:space="preserve">Mechanism Types – Example</a:t>
            </a:r>
          </a:p>
        </p:txBody>
      </p:sp>
    </p:spTree>
    <p:extLst>
      <p:ext uri="{BB962C8B-B14F-4D97-AF65-F5344CB8AC3E}">
        <p14:creationId xmlns:p14="http://schemas.microsoft.com/office/powerpoint/2010/main" val="31361070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286000" y="1676401"/>
            <a:ext cx="609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>
              <a:solidFill>
                <a:srgbClr val="0000FF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38807" y="1756518"/>
            <a:ext cx="9914385" cy="4130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rgbClr val="000000"/>
                </a:solidFill>
              </a:rPr>
              <a:t xml:space="preserve">Specification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 xml:space="preserve">Only logged-in users may post a message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rgbClr val="000000"/>
                </a:solidFill>
              </a:rPr>
              <a:t xml:space="preserve">Design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 xml:space="preserve">A session token is checked on every request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rgbClr val="000000"/>
                </a:solidFill>
              </a:rPr>
              <a:t xml:space="preserve">Implementation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 xml:space="preserve">Code verifies the token before accepting a post</a:t>
            </a:r>
          </a:p>
        </p:txBody>
      </p:sp>
      <p:sp>
        <p:nvSpPr>
          <p:cNvPr id="14340" name="TextBox 2"/>
          <p:cNvSpPr txBox="1">
            <a:spLocks noChangeArrowheads="1"/>
          </p:cNvSpPr>
          <p:nvPr/>
        </p:nvSpPr>
        <p:spPr bwMode="auto">
          <a:xfrm>
            <a:off x="1291931" y="312997"/>
            <a:ext cx="709006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0000FF"/>
                </a:solidFill>
              </a:rPr>
              <a:t xml:space="preserve">Assurance – Example</a:t>
            </a:r>
          </a:p>
        </p:txBody>
      </p:sp>
    </p:spTree>
    <p:extLst>
      <p:ext uri="{BB962C8B-B14F-4D97-AF65-F5344CB8AC3E}">
        <p14:creationId xmlns:p14="http://schemas.microsoft.com/office/powerpoint/2010/main" val="31361070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286000" y="1676401"/>
            <a:ext cx="609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>
              <a:solidFill>
                <a:srgbClr val="0000FF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38807" y="1756518"/>
            <a:ext cx="9914385" cy="4130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rgbClr val="000000"/>
                </a:solidFill>
              </a:rPr>
              <a:t xml:space="preserve">Cost-Benefit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 xml:space="preserve">An Rs 1 lakh firewall vs an Rs 50 lakh breach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rgbClr val="000000"/>
                </a:solidFill>
              </a:rPr>
              <a:t xml:space="preserve">Risk Analysis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 xml:space="preserve">Protect the customer database, not the canteen menu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rgbClr val="000000"/>
                </a:solidFill>
              </a:rPr>
              <a:t xml:space="preserve">Laws &amp; Customs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 xml:space="preserve">Strong encryption is restricted in some countries</a:t>
            </a:r>
          </a:p>
        </p:txBody>
      </p:sp>
      <p:sp>
        <p:nvSpPr>
          <p:cNvPr id="14340" name="TextBox 2"/>
          <p:cNvSpPr txBox="1">
            <a:spLocks noChangeArrowheads="1"/>
          </p:cNvSpPr>
          <p:nvPr/>
        </p:nvSpPr>
        <p:spPr bwMode="auto">
          <a:xfrm>
            <a:off x="1291931" y="312997"/>
            <a:ext cx="709006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0000FF"/>
                </a:solidFill>
              </a:rPr>
              <a:t xml:space="preserve">Operational Issues – Example</a:t>
            </a:r>
          </a:p>
        </p:txBody>
      </p:sp>
    </p:spTree>
    <p:extLst>
      <p:ext uri="{BB962C8B-B14F-4D97-AF65-F5344CB8AC3E}">
        <p14:creationId xmlns:p14="http://schemas.microsoft.com/office/powerpoint/2010/main" val="31361070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286000" y="1676401"/>
            <a:ext cx="609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>
              <a:solidFill>
                <a:srgbClr val="0000FF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38807" y="1756518"/>
            <a:ext cx="9914385" cy="41303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rgbClr val="000000"/>
                </a:solidFill>
              </a:rPr>
              <a:t xml:space="preserve">Social engineering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 xml:space="preserve">Attacker calls posing as IT and asks for a password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rgbClr val="000000"/>
                </a:solidFill>
              </a:rPr>
              <a:t xml:space="preserve">Insider threat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 xml:space="preserve">A disgruntled employee leaks confidential data</a:t>
            </a:r>
          </a:p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altLang="en-US" sz="3200" b="1" dirty="0">
                <a:solidFill>
                  <a:srgbClr val="000000"/>
                </a:solidFill>
              </a:rPr>
              <a:t xml:space="preserve">Untrained users</a:t>
            </a:r>
          </a:p>
          <a:p>
            <a:pPr marL="742950" lvl="1" indent="-28575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dirty="0">
                <a:solidFill>
                  <a:srgbClr val="000000"/>
                </a:solidFill>
              </a:rPr>
              <a:t xml:space="preserve">An employee clicks a phishing email link</a:t>
            </a:r>
          </a:p>
        </p:txBody>
      </p:sp>
      <p:sp>
        <p:nvSpPr>
          <p:cNvPr id="14340" name="TextBox 2"/>
          <p:cNvSpPr txBox="1">
            <a:spLocks noChangeArrowheads="1"/>
          </p:cNvSpPr>
          <p:nvPr/>
        </p:nvSpPr>
        <p:spPr bwMode="auto">
          <a:xfrm>
            <a:off x="1291931" y="312997"/>
            <a:ext cx="709006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0000FF"/>
                </a:solidFill>
              </a:rPr>
              <a:t xml:space="preserve">Human Issues – Example</a:t>
            </a:r>
          </a:p>
        </p:txBody>
      </p:sp>
    </p:spTree>
    <p:extLst>
      <p:ext uri="{BB962C8B-B14F-4D97-AF65-F5344CB8AC3E}">
        <p14:creationId xmlns:p14="http://schemas.microsoft.com/office/powerpoint/2010/main" val="31361070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5388</TotalTime>
  <Words>589</Words>
  <Application>Microsoft Office PowerPoint</Application>
  <PresentationFormat>Widescreen</PresentationFormat>
  <Paragraphs>174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Baskerville Old Face</vt:lpstr>
      <vt:lpstr>Book Antiqua</vt:lpstr>
      <vt:lpstr>Calibri</vt:lpstr>
      <vt:lpstr>Calibri Light</vt:lpstr>
      <vt:lpstr>Times New Roman</vt:lpstr>
      <vt:lpstr>Wingdings</vt:lpstr>
      <vt:lpstr>Office Theme</vt:lpstr>
      <vt:lpstr>SYSTEM SECURITY (CS F321) Introduction &amp; Overview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 Software Engineering</dc:title>
  <dc:creator>admin</dc:creator>
  <cp:lastModifiedBy>Barsha Mitra</cp:lastModifiedBy>
  <cp:revision>429</cp:revision>
  <cp:lastPrinted>2018-08-03T03:52:21Z</cp:lastPrinted>
  <dcterms:created xsi:type="dcterms:W3CDTF">2016-05-19T10:09:53Z</dcterms:created>
  <dcterms:modified xsi:type="dcterms:W3CDTF">2025-08-05T11:34:52Z</dcterms:modified>
</cp:coreProperties>
</file>